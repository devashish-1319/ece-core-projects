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" charset="1" panose="02030502070405020303"/>
      <p:regular r:id="rId16"/>
    </p:embeddedFont>
    <p:embeddedFont>
      <p:font typeface="Times New Roman Bold" charset="1" panose="02030802070405020303"/>
      <p:regular r:id="rId17"/>
    </p:embeddedFont>
    <p:embeddedFont>
      <p:font typeface="Open Sans Bold" charset="1" panose="020B0806030504020204"/>
      <p:regular r:id="rId18"/>
    </p:embeddedFont>
    <p:embeddedFont>
      <p:font typeface="Times New Roman Bold Italics" charset="1" panose="02030802070405090303"/>
      <p:regular r:id="rId19"/>
    </p:embeddedFont>
    <p:embeddedFont>
      <p:font typeface="Times New Roman Italics" charset="1" panose="02030502070405090303"/>
      <p:regular r:id="rId20"/>
    </p:embeddedFont>
    <p:embeddedFont>
      <p:font typeface="Abhaya Libre" charset="1" panose="02000503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6129055" y="5552566"/>
            <a:ext cx="10175443" cy="228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1"/>
              </a:lnSpc>
            </a:pPr>
            <a:r>
              <a:rPr lang="en-US" sz="41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1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22ECW351: Project lab-II</a:t>
            </a:r>
          </a:p>
          <a:p>
            <a:pPr algn="ctr">
              <a:lnSpc>
                <a:spcPts val="2402"/>
              </a:lnSpc>
            </a:pPr>
            <a:r>
              <a:rPr lang="en-US" sz="247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(VI Semester)</a:t>
            </a:r>
          </a:p>
          <a:p>
            <a:pPr algn="ctr">
              <a:lnSpc>
                <a:spcPts val="2402"/>
              </a:lnSpc>
            </a:pPr>
          </a:p>
          <a:p>
            <a:pPr algn="ctr">
              <a:lnSpc>
                <a:spcPts val="2402"/>
              </a:lnSpc>
            </a:pPr>
            <a:r>
              <a:rPr lang="en-US" sz="24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Electronics and Communication</a:t>
            </a:r>
            <a:r>
              <a:rPr lang="en-US" sz="247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</a:p>
          <a:p>
            <a:pPr algn="ctr">
              <a:lnSpc>
                <a:spcPts val="346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46898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425848" y="7342214"/>
            <a:ext cx="10699693" cy="169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 Devashish Tushar</a:t>
            </a:r>
          </a:p>
          <a:p>
            <a:pPr algn="ctr">
              <a:lnSpc>
                <a:spcPts val="3910"/>
              </a:lnSpc>
            </a:pPr>
            <a:r>
              <a:rPr lang="en-US" sz="279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</a:t>
            </a:r>
            <a:r>
              <a:rPr lang="en-US" sz="279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(2022uec1487)</a:t>
            </a:r>
          </a:p>
          <a:p>
            <a:pPr algn="ctr">
              <a:lnSpc>
                <a:spcPts val="3910"/>
              </a:lnSpc>
            </a:pPr>
            <a:r>
              <a:rPr lang="en-US" b="true" sz="27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4569" y="8896401"/>
            <a:ext cx="6882108" cy="59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b="true" sz="31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MNIT Jaipur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118095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060116" y="1299176"/>
            <a:ext cx="4115958" cy="3999286"/>
          </a:xfrm>
          <a:custGeom>
            <a:avLst/>
            <a:gdLst/>
            <a:ahLst/>
            <a:cxnLst/>
            <a:rect r="r" b="b" t="t" l="l"/>
            <a:pathLst>
              <a:path h="3999286" w="4115958">
                <a:moveTo>
                  <a:pt x="0" y="0"/>
                </a:moveTo>
                <a:lnTo>
                  <a:pt x="4115958" y="0"/>
                </a:lnTo>
                <a:lnTo>
                  <a:pt x="4115958" y="3999287"/>
                </a:lnTo>
                <a:lnTo>
                  <a:pt x="0" y="3999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38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1340" y="4745639"/>
            <a:ext cx="14705320" cy="3380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3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presentation details the design and simulation of a microstrip patch antenna, specifically for Ku band(12 GHz to 18 GHz), K band(18 GHz to 26.5 GHz) and Ka band(26.5 GHz to 40 GHz) applications, using CST Studio Suite software..</a:t>
            </a:r>
          </a:p>
          <a:p>
            <a:pPr algn="l">
              <a:lnSpc>
                <a:spcPts val="529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702946" y="8752657"/>
            <a:ext cx="688210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MNIT Jaipur</a:t>
            </a:r>
          </a:p>
        </p:txBody>
      </p:sp>
      <p:sp>
        <p:nvSpPr>
          <p:cNvPr name="AutoShape 4" id="4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1520825"/>
            <a:ext cx="18122788" cy="336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9"/>
              </a:lnSpc>
              <a:spcBef>
                <a:spcPct val="0"/>
              </a:spcBef>
            </a:pPr>
            <a:r>
              <a:rPr lang="en-US" b="true" sz="4063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Microstrip Patch Antenna : </a:t>
            </a:r>
          </a:p>
          <a:p>
            <a:pPr algn="ctr">
              <a:lnSpc>
                <a:spcPts val="5689"/>
              </a:lnSpc>
              <a:spcBef>
                <a:spcPct val="0"/>
              </a:spcBef>
            </a:pPr>
            <a:r>
              <a:rPr lang="en-US" b="true" sz="4063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Multiband Application</a:t>
            </a:r>
          </a:p>
          <a:p>
            <a:pPr algn="ctr">
              <a:lnSpc>
                <a:spcPts val="4849"/>
              </a:lnSpc>
              <a:spcBef>
                <a:spcPct val="0"/>
              </a:spcBef>
            </a:pPr>
            <a:r>
              <a:rPr lang="en-US" b="true" sz="346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       </a:t>
            </a:r>
            <a:r>
              <a:rPr lang="en-US" b="true" sz="3463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-  for Ku, K and Ka Band(12GHz - 18 GHz ; 18GHz - 26.5GHz ; 26.5GHz - 40GHz) application</a:t>
            </a:r>
          </a:p>
          <a:p>
            <a:pPr algn="ctr">
              <a:lnSpc>
                <a:spcPts val="526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9116" y="1219200"/>
            <a:ext cx="13180039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SPECIFICATIONS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02946" y="8752657"/>
            <a:ext cx="6882108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MNIT Jaipur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845001" y="43433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6456" y="2874409"/>
            <a:ext cx="5528209" cy="5554787"/>
          </a:xfrm>
          <a:custGeom>
            <a:avLst/>
            <a:gdLst/>
            <a:ahLst/>
            <a:cxnLst/>
            <a:rect r="r" b="b" t="t" l="l"/>
            <a:pathLst>
              <a:path h="5554787" w="5528209">
                <a:moveTo>
                  <a:pt x="0" y="0"/>
                </a:moveTo>
                <a:lnTo>
                  <a:pt x="5528209" y="0"/>
                </a:lnTo>
                <a:lnTo>
                  <a:pt x="5528209" y="5554787"/>
                </a:lnTo>
                <a:lnTo>
                  <a:pt x="0" y="5554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995375" y="2949825"/>
            <a:ext cx="9179358" cy="5479370"/>
          </a:xfrm>
          <a:custGeom>
            <a:avLst/>
            <a:gdLst/>
            <a:ahLst/>
            <a:cxnLst/>
            <a:rect r="r" b="b" t="t" l="l"/>
            <a:pathLst>
              <a:path h="5479370" w="9179358">
                <a:moveTo>
                  <a:pt x="0" y="0"/>
                </a:moveTo>
                <a:lnTo>
                  <a:pt x="9179358" y="0"/>
                </a:lnTo>
                <a:lnTo>
                  <a:pt x="9179358" y="5479371"/>
                </a:lnTo>
                <a:lnTo>
                  <a:pt x="0" y="5479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946" y="8752657"/>
            <a:ext cx="6882108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MNIT Jaipur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2077" y="562012"/>
            <a:ext cx="4436839" cy="3952632"/>
          </a:xfrm>
          <a:custGeom>
            <a:avLst/>
            <a:gdLst/>
            <a:ahLst/>
            <a:cxnLst/>
            <a:rect r="r" b="b" t="t" l="l"/>
            <a:pathLst>
              <a:path h="3952632" w="4436839">
                <a:moveTo>
                  <a:pt x="0" y="0"/>
                </a:moveTo>
                <a:lnTo>
                  <a:pt x="4436839" y="0"/>
                </a:lnTo>
                <a:lnTo>
                  <a:pt x="4436839" y="3952632"/>
                </a:lnTo>
                <a:lnTo>
                  <a:pt x="0" y="3952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63" r="0" b="-30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2077" y="4973256"/>
            <a:ext cx="4527960" cy="3437759"/>
          </a:xfrm>
          <a:custGeom>
            <a:avLst/>
            <a:gdLst/>
            <a:ahLst/>
            <a:cxnLst/>
            <a:rect r="r" b="b" t="t" l="l"/>
            <a:pathLst>
              <a:path h="3437759" w="4527960">
                <a:moveTo>
                  <a:pt x="0" y="0"/>
                </a:moveTo>
                <a:lnTo>
                  <a:pt x="4527960" y="0"/>
                </a:lnTo>
                <a:lnTo>
                  <a:pt x="4527960" y="3437758"/>
                </a:lnTo>
                <a:lnTo>
                  <a:pt x="0" y="3437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228" r="0" b="-1022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943894" y="741363"/>
            <a:ext cx="5783600" cy="175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Antenna Design Overview</a:t>
            </a:r>
          </a:p>
          <a:p>
            <a:pPr algn="just" marL="521126" indent="-260563" lvl="1">
              <a:lnSpc>
                <a:spcPts val="3379"/>
              </a:lnSpc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Substrate: FR4 (εr = 4.3, tanδ = 0.025)</a:t>
            </a:r>
          </a:p>
          <a:p>
            <a:pPr algn="just" marL="521126" indent="-260563" lvl="1">
              <a:lnSpc>
                <a:spcPts val="3379"/>
              </a:lnSpc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Substrate Thickness: 1 mm</a:t>
            </a:r>
          </a:p>
          <a:p>
            <a:pPr algn="just" marL="521126" indent="-260563" lvl="1">
              <a:lnSpc>
                <a:spcPts val="3379"/>
              </a:lnSpc>
              <a:buFont typeface="Arial"/>
              <a:buChar char="•"/>
            </a:pPr>
            <a:r>
              <a:rPr lang="en-US" sz="2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Antenna Size: 10 mm × 10 mm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43894" y="2815827"/>
            <a:ext cx="4213845" cy="1728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Patch Geometry</a:t>
            </a:r>
          </a:p>
          <a:p>
            <a:pPr algn="l" marL="520160" indent="-260080" lvl="1">
              <a:lnSpc>
                <a:spcPts val="3372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 Patch: 5 × 5 mm</a:t>
            </a:r>
          </a:p>
          <a:p>
            <a:pPr algn="l" marL="520160" indent="-260080" lvl="1">
              <a:lnSpc>
                <a:spcPts val="3372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 Patch: 2.5 × 2.5 mm</a:t>
            </a:r>
          </a:p>
          <a:p>
            <a:pPr algn="l" marL="520160" indent="-260080" lvl="1">
              <a:lnSpc>
                <a:spcPts val="3372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Patch: 1.25 × 1.25 mm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62772" y="4787704"/>
            <a:ext cx="5634856" cy="172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Slot Dimensions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Outer–Middle Slot: 0.95 × 1.95 mm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Middle–Inner Slot 1: 0.325 × 0.625 mm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Middle–Inner Slot 2: 0.425 × 0.325 mm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62772" y="6773223"/>
            <a:ext cx="5831012" cy="172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Feeding Technique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Microstrip Line Feed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Dimensions: 0.4 mm (W) × 2.5 mm (L)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Placement: Centered, 2.5 mm from patch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07720" y="4496555"/>
            <a:ext cx="1085552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Front  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07720" y="8363389"/>
            <a:ext cx="993353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Back View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3788"/>
            <a:ext cx="16230600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9754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4423" y="-164117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25911" y="2746854"/>
            <a:ext cx="13036178" cy="4266746"/>
          </a:xfrm>
          <a:custGeom>
            <a:avLst/>
            <a:gdLst/>
            <a:ahLst/>
            <a:cxnLst/>
            <a:rect r="r" b="b" t="t" l="l"/>
            <a:pathLst>
              <a:path h="4266746" w="13036178">
                <a:moveTo>
                  <a:pt x="0" y="0"/>
                </a:moveTo>
                <a:lnTo>
                  <a:pt x="13036178" y="0"/>
                </a:lnTo>
                <a:lnTo>
                  <a:pt x="13036178" y="4266746"/>
                </a:lnTo>
                <a:lnTo>
                  <a:pt x="0" y="4266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5" t="-1720" r="0" b="-172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289811" y="2669501"/>
            <a:ext cx="13708378" cy="4735102"/>
          </a:xfrm>
          <a:custGeom>
            <a:avLst/>
            <a:gdLst/>
            <a:ahLst/>
            <a:cxnLst/>
            <a:rect r="r" b="b" t="t" l="l"/>
            <a:pathLst>
              <a:path h="4735102" w="13708378">
                <a:moveTo>
                  <a:pt x="0" y="0"/>
                </a:moveTo>
                <a:lnTo>
                  <a:pt x="13708378" y="0"/>
                </a:lnTo>
                <a:lnTo>
                  <a:pt x="13708378" y="4735103"/>
                </a:lnTo>
                <a:lnTo>
                  <a:pt x="0" y="47351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39379" y="7491367"/>
            <a:ext cx="15009242" cy="160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0"/>
              </a:lnSpc>
            </a:pPr>
            <a:r>
              <a:rPr lang="en-US" sz="29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Desirable frequency Bands are obtained -&gt;11.5–12.8 GHz, 21–22.74 GHz, and 25.6–41 GHz,</a:t>
            </a:r>
          </a:p>
          <a:p>
            <a:pPr algn="ctr">
              <a:lnSpc>
                <a:spcPts val="4190"/>
              </a:lnSpc>
            </a:pPr>
          </a:p>
          <a:p>
            <a:pPr algn="ctr">
              <a:lnSpc>
                <a:spcPts val="41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946" y="8752657"/>
            <a:ext cx="6882108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MNIT Jaipur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628900" y="-144908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81252" y="4956548"/>
            <a:ext cx="11606748" cy="3629342"/>
          </a:xfrm>
          <a:custGeom>
            <a:avLst/>
            <a:gdLst/>
            <a:ahLst/>
            <a:cxnLst/>
            <a:rect r="r" b="b" t="t" l="l"/>
            <a:pathLst>
              <a:path h="3629342" w="11606748">
                <a:moveTo>
                  <a:pt x="0" y="0"/>
                </a:moveTo>
                <a:lnTo>
                  <a:pt x="11606748" y="0"/>
                </a:lnTo>
                <a:lnTo>
                  <a:pt x="11606748" y="3629342"/>
                </a:lnTo>
                <a:lnTo>
                  <a:pt x="0" y="3629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03" r="0" b="-320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12642" y="1172431"/>
            <a:ext cx="11563538" cy="3512672"/>
          </a:xfrm>
          <a:custGeom>
            <a:avLst/>
            <a:gdLst/>
            <a:ahLst/>
            <a:cxnLst/>
            <a:rect r="r" b="b" t="t" l="l"/>
            <a:pathLst>
              <a:path h="3512672" w="11563538">
                <a:moveTo>
                  <a:pt x="0" y="0"/>
                </a:moveTo>
                <a:lnTo>
                  <a:pt x="11563538" y="0"/>
                </a:lnTo>
                <a:lnTo>
                  <a:pt x="11563538" y="3512672"/>
                </a:lnTo>
                <a:lnTo>
                  <a:pt x="0" y="3512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860" r="0" b="-686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3175345" y="2303934"/>
            <a:ext cx="3205269" cy="84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7"/>
              </a:lnSpc>
              <a:spcBef>
                <a:spcPct val="0"/>
              </a:spcBef>
            </a:pPr>
            <a:r>
              <a:rPr lang="en-US" sz="44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VSWR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3791" y="6050390"/>
            <a:ext cx="5566470" cy="143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</a:pPr>
            <a:r>
              <a:rPr lang="en-US" sz="38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Gain over Frequency</a:t>
            </a:r>
          </a:p>
          <a:p>
            <a:pPr algn="ctr">
              <a:lnSpc>
                <a:spcPts val="5438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16430" y="6772578"/>
            <a:ext cx="4541193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Gain of 7.4 dBi observed at 39.87 GHz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946" y="8752657"/>
            <a:ext cx="6882108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MNIT Jaipur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628900" y="-144908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98678" y="4942713"/>
            <a:ext cx="9489322" cy="3914719"/>
          </a:xfrm>
          <a:custGeom>
            <a:avLst/>
            <a:gdLst/>
            <a:ahLst/>
            <a:cxnLst/>
            <a:rect r="r" b="b" t="t" l="l"/>
            <a:pathLst>
              <a:path h="3914719" w="9489322">
                <a:moveTo>
                  <a:pt x="0" y="0"/>
                </a:moveTo>
                <a:lnTo>
                  <a:pt x="9489322" y="0"/>
                </a:lnTo>
                <a:lnTo>
                  <a:pt x="9489322" y="3914719"/>
                </a:lnTo>
                <a:lnTo>
                  <a:pt x="0" y="3914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" t="0" r="-7" b="-1152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12642" y="1172431"/>
            <a:ext cx="11563538" cy="3512672"/>
          </a:xfrm>
          <a:custGeom>
            <a:avLst/>
            <a:gdLst/>
            <a:ahLst/>
            <a:cxnLst/>
            <a:rect r="r" b="b" t="t" l="l"/>
            <a:pathLst>
              <a:path h="3512672" w="11563538">
                <a:moveTo>
                  <a:pt x="0" y="0"/>
                </a:moveTo>
                <a:lnTo>
                  <a:pt x="11563538" y="0"/>
                </a:lnTo>
                <a:lnTo>
                  <a:pt x="11563538" y="3512672"/>
                </a:lnTo>
                <a:lnTo>
                  <a:pt x="0" y="3512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262" r="0" b="-6262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3253898" y="1945282"/>
            <a:ext cx="3205269" cy="84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7"/>
              </a:lnSpc>
              <a:spcBef>
                <a:spcPct val="0"/>
              </a:spcBef>
            </a:pPr>
            <a:r>
              <a:rPr lang="en-US" sz="44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07736" y="6151022"/>
            <a:ext cx="2251174" cy="74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  <a:spcBef>
                <a:spcPct val="0"/>
              </a:spcBef>
            </a:pPr>
            <a:r>
              <a:rPr lang="en-US" sz="38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Directivity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68766" y="2862092"/>
            <a:ext cx="4175534" cy="127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antenna achieves</a:t>
            </a:r>
            <a:r>
              <a:rPr lang="en-US" sz="18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peak radiation and total efficiencies of </a:t>
            </a:r>
          </a:p>
          <a:p>
            <a:pPr algn="ctr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approximately 66% and 63% respectively around 36 GHz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946" y="8752657"/>
            <a:ext cx="6882108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MNIT Jaipur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628900" y="-144908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2934" y="1172431"/>
            <a:ext cx="4614468" cy="4340653"/>
          </a:xfrm>
          <a:custGeom>
            <a:avLst/>
            <a:gdLst/>
            <a:ahLst/>
            <a:cxnLst/>
            <a:rect r="r" b="b" t="t" l="l"/>
            <a:pathLst>
              <a:path h="4340653" w="4614468">
                <a:moveTo>
                  <a:pt x="0" y="0"/>
                </a:moveTo>
                <a:lnTo>
                  <a:pt x="4614468" y="0"/>
                </a:lnTo>
                <a:lnTo>
                  <a:pt x="4614468" y="4340653"/>
                </a:lnTo>
                <a:lnTo>
                  <a:pt x="0" y="4340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257" t="0" r="-124936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404440" y="3554572"/>
            <a:ext cx="4718355" cy="4544405"/>
          </a:xfrm>
          <a:custGeom>
            <a:avLst/>
            <a:gdLst/>
            <a:ahLst/>
            <a:cxnLst/>
            <a:rect r="r" b="b" t="t" l="l"/>
            <a:pathLst>
              <a:path h="4544405" w="4718355">
                <a:moveTo>
                  <a:pt x="0" y="0"/>
                </a:moveTo>
                <a:lnTo>
                  <a:pt x="4718355" y="0"/>
                </a:lnTo>
                <a:lnTo>
                  <a:pt x="4718355" y="4544405"/>
                </a:lnTo>
                <a:lnTo>
                  <a:pt x="0" y="45444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185" t="0" r="-128222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26750" y="1502410"/>
            <a:ext cx="4161272" cy="4153549"/>
          </a:xfrm>
          <a:custGeom>
            <a:avLst/>
            <a:gdLst/>
            <a:ahLst/>
            <a:cxnLst/>
            <a:rect r="r" b="b" t="t" l="l"/>
            <a:pathLst>
              <a:path h="4153549" w="4161272">
                <a:moveTo>
                  <a:pt x="0" y="0"/>
                </a:moveTo>
                <a:lnTo>
                  <a:pt x="4161272" y="0"/>
                </a:lnTo>
                <a:lnTo>
                  <a:pt x="4161272" y="4153549"/>
                </a:lnTo>
                <a:lnTo>
                  <a:pt x="0" y="41535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5480" t="0" r="-13512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44665" y="337914"/>
            <a:ext cx="3220687" cy="69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0"/>
              </a:lnSpc>
              <a:spcBef>
                <a:spcPct val="0"/>
              </a:spcBef>
            </a:pPr>
            <a:r>
              <a:rPr lang="en-US" b="true" sz="367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Surface Current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2193" y="5598809"/>
            <a:ext cx="559224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12.2 GHz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04440" y="8041827"/>
            <a:ext cx="4718355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21.75 GHz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26138" y="5598809"/>
            <a:ext cx="120059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33.56 GHz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946" y="8752657"/>
            <a:ext cx="6882108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MNIT Jaipur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53980" y="969665"/>
            <a:ext cx="13180039" cy="161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b="true" sz="8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982801" y="637964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648907" y="-40227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91413" y="3188609"/>
            <a:ext cx="13305175" cy="437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96"/>
              </a:lnSpc>
              <a:spcBef>
                <a:spcPct val="0"/>
              </a:spcBef>
            </a:pPr>
            <a:r>
              <a:rPr lang="en-US" sz="30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compact multiband microstrip patch antenna was successfully designed and simulated for Ku, K, and Ka bands (11.58–41.65 GHz), targeting applications like satellite broadcasting, RADAR, inter-satellite links, and 5G. The square patch with concentric slots achieved excellent return loss (as low as −29.35 dB), VSWR near 1, and multiband resonance. Simulated in CST, the antenna showed a peak gain of 8.3 dBi at 39.87 GHz and efficiencies of 66% (radiation) and 63% (total). The design proves highly effective for high-frequency communication and satellite systems.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58682" y="3686996"/>
            <a:ext cx="10034885" cy="21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29"/>
              </a:lnSpc>
            </a:pPr>
            <a:r>
              <a:rPr lang="en-US" b="true" sz="1116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DAGnKBOItHE</dc:identifier>
  <dcterms:modified xsi:type="dcterms:W3CDTF">2011-08-01T06:04:30Z</dcterms:modified>
  <cp:revision>1</cp:revision>
  <dc:title>Minor Project II</dc:title>
</cp:coreProperties>
</file>