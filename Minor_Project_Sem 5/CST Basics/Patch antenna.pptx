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056E-3D31-4010-B8BB-1C173F1982F6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8AA32-BB3C-4378-AA9C-CDA8E6976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83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056E-3D31-4010-B8BB-1C173F1982F6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8AA32-BB3C-4378-AA9C-CDA8E6976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25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056E-3D31-4010-B8BB-1C173F1982F6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8AA32-BB3C-4378-AA9C-CDA8E6976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89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056E-3D31-4010-B8BB-1C173F1982F6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8AA32-BB3C-4378-AA9C-CDA8E6976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284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056E-3D31-4010-B8BB-1C173F1982F6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8AA32-BB3C-4378-AA9C-CDA8E6976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17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056E-3D31-4010-B8BB-1C173F1982F6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8AA32-BB3C-4378-AA9C-CDA8E6976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605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056E-3D31-4010-B8BB-1C173F1982F6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8AA32-BB3C-4378-AA9C-CDA8E6976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46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056E-3D31-4010-B8BB-1C173F1982F6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8AA32-BB3C-4378-AA9C-CDA8E6976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451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056E-3D31-4010-B8BB-1C173F1982F6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8AA32-BB3C-4378-AA9C-CDA8E6976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324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056E-3D31-4010-B8BB-1C173F1982F6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8AA32-BB3C-4378-AA9C-CDA8E6976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60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056E-3D31-4010-B8BB-1C173F1982F6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8AA32-BB3C-4378-AA9C-CDA8E6976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642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1056E-3D31-4010-B8BB-1C173F1982F6}" type="datetimeFigureOut">
              <a:rPr lang="en-US" smtClean="0"/>
              <a:t>4/27/2023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8AA32-BB3C-4378-AA9C-CDA8E6976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06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9225254" y="138280"/>
            <a:ext cx="2466975" cy="73342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AutoShape 4" descr="Image result for CT sca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See the source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762000" y="4270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RECTANGULAR</a:t>
            </a:r>
          </a:p>
          <a:p>
            <a:pPr>
              <a:spcBef>
                <a:spcPts val="0"/>
              </a:spcBef>
            </a:pP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MICROSTRIP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ANTENNA CALUCULATIONS</a:t>
            </a:r>
          </a:p>
        </p:txBody>
      </p:sp>
      <p:pic>
        <p:nvPicPr>
          <p:cNvPr id="10" name="Picture 9" descr="http://cdn.everythingrf.com/live/width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278254"/>
            <a:ext cx="2057400" cy="778099"/>
          </a:xfrm>
          <a:prstGeom prst="rect">
            <a:avLst/>
          </a:prstGeom>
          <a:noFill/>
          <a:ln>
            <a:noFill/>
          </a:ln>
          <a:extLst/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307417"/>
              </p:ext>
            </p:extLst>
          </p:nvPr>
        </p:nvGraphicFramePr>
        <p:xfrm>
          <a:off x="1219200" y="1782835"/>
          <a:ext cx="10972800" cy="708216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7462705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Gautami" panose="020B0502040204020203" pitchFamily="34" charset="0"/>
                        </a:rPr>
                        <a:t>     </a:t>
                      </a:r>
                      <a:r>
                        <a:rPr lang="en-GB" sz="20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Gautami" panose="020B0502040204020203" pitchFamily="34" charset="0"/>
                        </a:rPr>
                        <a:t>Calculation </a:t>
                      </a:r>
                      <a:r>
                        <a:rPr lang="en-GB" sz="20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Gautami" panose="020B0502040204020203" pitchFamily="34" charset="0"/>
                        </a:rPr>
                        <a:t>of the Width </a:t>
                      </a:r>
                      <a:r>
                        <a:rPr lang="en-GB" sz="20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Gautami" panose="020B0502040204020203" pitchFamily="34" charset="0"/>
                        </a:rPr>
                        <a:t>                    </a:t>
                      </a:r>
                      <a:r>
                        <a:rPr lang="en-GB" sz="20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Calculation of the Effective Dielectric Constant</a:t>
                      </a:r>
                      <a:endParaRPr lang="en-IN" sz="2000" b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Gautami" panose="020B0502040204020203" pitchFamily="34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7007577"/>
                  </a:ext>
                </a:extLst>
              </a:tr>
            </a:tbl>
          </a:graphicData>
        </a:graphic>
      </p:graphicFrame>
      <p:pic>
        <p:nvPicPr>
          <p:cNvPr id="12" name="Picture 11" descr="http://cdn.everythingrf.com/live/eeff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8258" y="2113575"/>
            <a:ext cx="3815054" cy="791138"/>
          </a:xfrm>
          <a:prstGeom prst="rect">
            <a:avLst/>
          </a:prstGeom>
          <a:noFill/>
          <a:ln>
            <a:noFill/>
          </a:ln>
          <a:extLst/>
        </p:spPr>
      </p:pic>
      <p:pic>
        <p:nvPicPr>
          <p:cNvPr id="13" name="Picture 12" descr="Effective Length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985596"/>
            <a:ext cx="1752600" cy="595391"/>
          </a:xfrm>
          <a:prstGeom prst="rect">
            <a:avLst/>
          </a:prstGeom>
          <a:noFill/>
          <a:ln>
            <a:noFill/>
          </a:ln>
          <a:extLst/>
        </p:spPr>
      </p:pic>
      <p:sp>
        <p:nvSpPr>
          <p:cNvPr id="14" name="Rectangle 13"/>
          <p:cNvSpPr/>
          <p:nvPr/>
        </p:nvSpPr>
        <p:spPr>
          <a:xfrm>
            <a:off x="5715000" y="3472678"/>
            <a:ext cx="45672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Calculation of actual length of the patch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 descr="Length of the Patch Antenna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149967"/>
            <a:ext cx="1803400" cy="391603"/>
          </a:xfrm>
          <a:prstGeom prst="rect">
            <a:avLst/>
          </a:prstGeom>
          <a:noFill/>
          <a:ln>
            <a:noFill/>
          </a:ln>
          <a:extLst/>
        </p:spPr>
      </p:pic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582556"/>
              </p:ext>
            </p:extLst>
          </p:nvPr>
        </p:nvGraphicFramePr>
        <p:xfrm>
          <a:off x="838200" y="4802032"/>
          <a:ext cx="10972800" cy="1766126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846475400"/>
                    </a:ext>
                  </a:extLst>
                </a:gridCol>
              </a:tblGrid>
              <a:tr h="17463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800"/>
                        </a:spcAft>
                      </a:pPr>
                      <a:r>
                        <a:rPr lang="en-GB" sz="2400" b="1" u="none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Following </a:t>
                      </a:r>
                      <a:r>
                        <a:rPr lang="en-GB" sz="2400" b="1" u="none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parameters are </a:t>
                      </a:r>
                      <a:r>
                        <a:rPr lang="en-GB" sz="2400" b="1" u="none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used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800"/>
                        </a:spcAft>
                      </a:pPr>
                      <a:r>
                        <a:rPr lang="en-GB" sz="18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GB" sz="1800" b="1" baseline="-25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is the Resonance </a:t>
                      </a:r>
                      <a:r>
                        <a:rPr lang="en-GB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Frequency, </a:t>
                      </a:r>
                      <a:r>
                        <a:rPr lang="en-GB" sz="18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GB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 the Width of the </a:t>
                      </a:r>
                      <a:r>
                        <a:rPr lang="en-GB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Patch, </a:t>
                      </a:r>
                      <a:r>
                        <a:rPr lang="en-GB" sz="18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GB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is the Length of the Patch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is the </a:t>
                      </a:r>
                      <a:r>
                        <a:rPr lang="en-GB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thickness, </a:t>
                      </a:r>
                      <a:r>
                        <a:rPr lang="en-GB" sz="1800" b="1" dirty="0" err="1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lang="en-GB" sz="1800" b="1" baseline="-25000" dirty="0" err="1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GB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is the relative Permittivity of the dielectric </a:t>
                      </a:r>
                      <a:r>
                        <a:rPr lang="en-GB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substrate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800" b="1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GB" sz="18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is the Speed of light: 3 x 10</a:t>
                      </a:r>
                      <a:r>
                        <a:rPr lang="en-GB" sz="1800" baseline="300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    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931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97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9225254" y="138280"/>
            <a:ext cx="2466975" cy="73342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AutoShape 4" descr="Image result for CT sca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See the source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762000" y="4270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CIRCULAR</a:t>
            </a:r>
          </a:p>
          <a:p>
            <a:pPr>
              <a:spcBef>
                <a:spcPts val="0"/>
              </a:spcBef>
            </a:pP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MICROSTRIP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ANTENNA CALUCULATIONS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6910"/>
              </p:ext>
            </p:extLst>
          </p:nvPr>
        </p:nvGraphicFramePr>
        <p:xfrm>
          <a:off x="1219200" y="1782835"/>
          <a:ext cx="10972800" cy="280480"/>
        </p:xfrm>
        <a:graphic>
          <a:graphicData uri="http://schemas.openxmlformats.org/drawingml/2006/table">
            <a:tbl>
              <a:tblPr/>
              <a:tblGrid>
                <a:gridCol w="10972800">
                  <a:extLst>
                    <a:ext uri="{9D8B030D-6E8A-4147-A177-3AD203B41FA5}">
                      <a16:colId xmlns:a16="http://schemas.microsoft.com/office/drawing/2014/main" val="7462705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Gautami" panose="020B0502040204020203" pitchFamily="34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7007577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26" y="2420692"/>
            <a:ext cx="4721189" cy="21348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75" y="5018982"/>
            <a:ext cx="5543550" cy="1266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81823" y="2690037"/>
            <a:ext cx="3232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Radius of the patch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75" y="5171382"/>
            <a:ext cx="5543550" cy="12668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05600" y="5620128"/>
            <a:ext cx="43735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 = effective Radius of the patch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532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57" y="509255"/>
            <a:ext cx="11706225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91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0449" y="807855"/>
            <a:ext cx="11778512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MSA generally has a two-dimensional radiating patch on a thin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dielectric substrate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therefore may be categorized as a two-dimensional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planar component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analysis purposes. The analysis methods for MSAs can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broadly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divided into two groups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first group, the methods are based on equivalent magnetic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distribution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around the patch edges (similar to slot antennas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three popular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techniques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transmission line model;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cavity model;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multi-port network method (MNM).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second group, the methods are based on the electric current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patch conductor and the ground plane (similar to dipole antennas,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in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conjunction with full-wave simulation/numerical analysis methods).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of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numerical methods for analyzing MSAs are listed as follows: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 of moments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finite-element method (FEM);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spectral domain technique (SDT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finite-difference time-domain (FDTD) method.</a:t>
            </a:r>
          </a:p>
        </p:txBody>
      </p:sp>
      <p:sp>
        <p:nvSpPr>
          <p:cNvPr id="3" name="Rectangle 2"/>
          <p:cNvSpPr/>
          <p:nvPr/>
        </p:nvSpPr>
        <p:spPr>
          <a:xfrm>
            <a:off x="4222420" y="127340"/>
            <a:ext cx="36870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of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141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224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Gautami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</cp:revision>
  <dcterms:created xsi:type="dcterms:W3CDTF">2023-04-27T07:46:03Z</dcterms:created>
  <dcterms:modified xsi:type="dcterms:W3CDTF">2023-04-27T08:08:45Z</dcterms:modified>
</cp:coreProperties>
</file>