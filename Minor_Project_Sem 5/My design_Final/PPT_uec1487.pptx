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latsi" charset="1" panose="00000500000000000000"/>
      <p:regular r:id="rId14"/>
    </p:embeddedFont>
    <p:embeddedFont>
      <p:font typeface="Open Sans Bold" charset="1" panose="020B0806030504020204"/>
      <p:regular r:id="rId15"/>
    </p:embeddedFont>
    <p:embeddedFont>
      <p:font typeface="Abhaya Libre" charset="1" panose="02000503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6129055" y="5638291"/>
            <a:ext cx="10175443" cy="210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1"/>
              </a:lnSpc>
            </a:pPr>
            <a:r>
              <a:rPr lang="en-US" sz="417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417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22ECW301: Project lab-I </a:t>
            </a:r>
          </a:p>
          <a:p>
            <a:pPr algn="ctr">
              <a:lnSpc>
                <a:spcPts val="4051"/>
              </a:lnSpc>
            </a:pPr>
          </a:p>
          <a:p>
            <a:pPr algn="ctr">
              <a:lnSpc>
                <a:spcPts val="2402"/>
              </a:lnSpc>
            </a:pPr>
            <a:r>
              <a:rPr lang="en-US" sz="247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(V Semester)</a:t>
            </a:r>
          </a:p>
          <a:p>
            <a:pPr algn="ctr">
              <a:lnSpc>
                <a:spcPts val="2402"/>
              </a:lnSpc>
            </a:pPr>
            <a:r>
              <a:rPr lang="en-US" sz="247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Department of Electronics and Communication</a:t>
            </a:r>
            <a:r>
              <a:rPr lang="en-US" sz="247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</a:t>
            </a:r>
            <a:r>
              <a:rPr lang="en-US" sz="247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Engineering</a:t>
            </a:r>
          </a:p>
          <a:p>
            <a:pPr algn="ctr">
              <a:lnSpc>
                <a:spcPts val="3469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646898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469138" y="7627243"/>
            <a:ext cx="10859511" cy="163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9"/>
              </a:lnSpc>
            </a:pPr>
            <a:r>
              <a:rPr lang="en-US" sz="37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Presented By : Devashish Tushar</a:t>
            </a:r>
          </a:p>
          <a:p>
            <a:pPr algn="ctr">
              <a:lnSpc>
                <a:spcPts val="3969"/>
              </a:lnSpc>
            </a:pPr>
            <a:r>
              <a:rPr lang="en-US" sz="28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                     </a:t>
            </a:r>
            <a:r>
              <a:rPr lang="en-US" sz="28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(2022uec1487)</a:t>
            </a:r>
          </a:p>
          <a:p>
            <a:pPr algn="ctr">
              <a:lnSpc>
                <a:spcPts val="3969"/>
              </a:lnSpc>
            </a:pPr>
            <a:r>
              <a:rPr lang="en-US" sz="283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 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34569" y="8963076"/>
            <a:ext cx="6882108" cy="53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MNIT Jaipur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118095" y="925830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060116" y="1299176"/>
            <a:ext cx="4115958" cy="3999286"/>
          </a:xfrm>
          <a:custGeom>
            <a:avLst/>
            <a:gdLst/>
            <a:ahLst/>
            <a:cxnLst/>
            <a:rect r="r" b="b" t="t" l="l"/>
            <a:pathLst>
              <a:path h="3999286" w="4115958">
                <a:moveTo>
                  <a:pt x="0" y="0"/>
                </a:moveTo>
                <a:lnTo>
                  <a:pt x="4115958" y="0"/>
                </a:lnTo>
                <a:lnTo>
                  <a:pt x="4115958" y="3999287"/>
                </a:lnTo>
                <a:lnTo>
                  <a:pt x="0" y="3999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38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1340" y="3600889"/>
            <a:ext cx="14705320" cy="369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2"/>
              </a:lnSpc>
            </a:pPr>
            <a:r>
              <a:rPr lang="en-US" sz="418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This presentation details the design and simulation of a microstrip patch antenna, specifically for X Band(8GHz to 12GHz) and Ku band(12 GHz to 18 GHz)  applications, using CST Studio Suite software..</a:t>
            </a:r>
          </a:p>
          <a:p>
            <a:pPr algn="l">
              <a:lnSpc>
                <a:spcPts val="585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702946" y="8800282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MNIT Jaipur</a:t>
            </a:r>
          </a:p>
        </p:txBody>
      </p:sp>
      <p:sp>
        <p:nvSpPr>
          <p:cNvPr name="AutoShape 4" id="4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764167" y="620819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553980" y="1263461"/>
            <a:ext cx="13180039" cy="242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u="sng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MICROSTRIP PATCH ANTENNA DESIGN </a:t>
            </a:r>
            <a:r>
              <a:rPr lang="en-US" sz="53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: 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X AND KU BAND</a:t>
            </a:r>
          </a:p>
          <a:p>
            <a:pPr algn="ctr">
              <a:lnSpc>
                <a:spcPts val="686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2627572" y="-73333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79116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DESIGN SPECIFICATIONS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02946" y="8800282"/>
            <a:ext cx="688210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MNIT Jaipur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845001" y="434334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43851" y="3150540"/>
            <a:ext cx="7035536" cy="4874102"/>
          </a:xfrm>
          <a:custGeom>
            <a:avLst/>
            <a:gdLst/>
            <a:ahLst/>
            <a:cxnLst/>
            <a:rect r="r" b="b" t="t" l="l"/>
            <a:pathLst>
              <a:path h="4874102" w="7035536">
                <a:moveTo>
                  <a:pt x="0" y="0"/>
                </a:moveTo>
                <a:lnTo>
                  <a:pt x="7035536" y="0"/>
                </a:lnTo>
                <a:lnTo>
                  <a:pt x="7035536" y="4874103"/>
                </a:lnTo>
                <a:lnTo>
                  <a:pt x="0" y="4874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19" r="0" b="-1219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24219" y="3150540"/>
            <a:ext cx="7348487" cy="4973928"/>
          </a:xfrm>
          <a:custGeom>
            <a:avLst/>
            <a:gdLst/>
            <a:ahLst/>
            <a:cxnLst/>
            <a:rect r="r" b="b" t="t" l="l"/>
            <a:pathLst>
              <a:path h="4973928" w="7348487">
                <a:moveTo>
                  <a:pt x="0" y="0"/>
                </a:moveTo>
                <a:lnTo>
                  <a:pt x="7348487" y="0"/>
                </a:lnTo>
                <a:lnTo>
                  <a:pt x="7348487" y="4973929"/>
                </a:lnTo>
                <a:lnTo>
                  <a:pt x="0" y="4973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2946" y="8800282"/>
            <a:ext cx="688210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MNIT Jaipur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982861" y="5933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482681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2077" y="562012"/>
            <a:ext cx="4436839" cy="3952632"/>
          </a:xfrm>
          <a:custGeom>
            <a:avLst/>
            <a:gdLst/>
            <a:ahLst/>
            <a:cxnLst/>
            <a:rect r="r" b="b" t="t" l="l"/>
            <a:pathLst>
              <a:path h="3952632" w="4436839">
                <a:moveTo>
                  <a:pt x="0" y="0"/>
                </a:moveTo>
                <a:lnTo>
                  <a:pt x="4436839" y="0"/>
                </a:lnTo>
                <a:lnTo>
                  <a:pt x="4436839" y="3952632"/>
                </a:lnTo>
                <a:lnTo>
                  <a:pt x="0" y="3952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074" t="0" r="-79499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0956" y="5143500"/>
            <a:ext cx="4527960" cy="3437759"/>
          </a:xfrm>
          <a:custGeom>
            <a:avLst/>
            <a:gdLst/>
            <a:ahLst/>
            <a:cxnLst/>
            <a:rect r="r" b="b" t="t" l="l"/>
            <a:pathLst>
              <a:path h="3437759" w="4527960">
                <a:moveTo>
                  <a:pt x="0" y="0"/>
                </a:moveTo>
                <a:lnTo>
                  <a:pt x="4527960" y="0"/>
                </a:lnTo>
                <a:lnTo>
                  <a:pt x="4527960" y="3437759"/>
                </a:lnTo>
                <a:lnTo>
                  <a:pt x="0" y="3437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2749" t="0" r="-66556" b="-98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661950" y="1740299"/>
            <a:ext cx="10978511" cy="577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The Schematic presents the design of a high-gain broadband microstrip patch antenna for X, and Ku band applications. It features a rectangular patch (13 × 14 mm) on an FR4 substrate 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(20 × 14 × 1.6 mm) with a partial ground plane made of PEC material. Key enhancements include slot loading in the patch and ground, along with a modified microstrip feed structure to achieve broadband characteristics, improved impedance matching, and low return loss (S11 &lt; -10 dB). The design balances manufacturability and performance, leveraging the favorable properties of FR4 and PEC materials.</a:t>
            </a:r>
          </a:p>
          <a:p>
            <a:pPr algn="l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6775"/>
            <a:ext cx="1623060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 u="sng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RESULTS.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697545" y="878816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4423" y="-164117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25911" y="2746854"/>
            <a:ext cx="13036178" cy="4266746"/>
          </a:xfrm>
          <a:custGeom>
            <a:avLst/>
            <a:gdLst/>
            <a:ahLst/>
            <a:cxnLst/>
            <a:rect r="r" b="b" t="t" l="l"/>
            <a:pathLst>
              <a:path h="4266746" w="13036178">
                <a:moveTo>
                  <a:pt x="0" y="0"/>
                </a:moveTo>
                <a:lnTo>
                  <a:pt x="13036178" y="0"/>
                </a:lnTo>
                <a:lnTo>
                  <a:pt x="13036178" y="4266746"/>
                </a:lnTo>
                <a:lnTo>
                  <a:pt x="0" y="4266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5" t="-1720" r="0" b="-172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4877544" y="7376029"/>
            <a:ext cx="8532912" cy="137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2593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Desirable Bands are obtained between 10-12 GHz and 12-14 GHz</a:t>
            </a:r>
          </a:p>
          <a:p>
            <a:pPr algn="ctr">
              <a:lnSpc>
                <a:spcPts val="3630"/>
              </a:lnSpc>
            </a:pPr>
          </a:p>
          <a:p>
            <a:pPr algn="ctr">
              <a:lnSpc>
                <a:spcPts val="36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2946" y="8800282"/>
            <a:ext cx="688210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MNIT Jaipur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628900" y="-144908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81252" y="4956548"/>
            <a:ext cx="11606748" cy="3629342"/>
          </a:xfrm>
          <a:custGeom>
            <a:avLst/>
            <a:gdLst/>
            <a:ahLst/>
            <a:cxnLst/>
            <a:rect r="r" b="b" t="t" l="l"/>
            <a:pathLst>
              <a:path h="3629342" w="11606748">
                <a:moveTo>
                  <a:pt x="0" y="0"/>
                </a:moveTo>
                <a:lnTo>
                  <a:pt x="11606748" y="0"/>
                </a:lnTo>
                <a:lnTo>
                  <a:pt x="11606748" y="3629342"/>
                </a:lnTo>
                <a:lnTo>
                  <a:pt x="0" y="3629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434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12642" y="1172431"/>
            <a:ext cx="11563538" cy="3512672"/>
          </a:xfrm>
          <a:custGeom>
            <a:avLst/>
            <a:gdLst/>
            <a:ahLst/>
            <a:cxnLst/>
            <a:rect r="r" b="b" t="t" l="l"/>
            <a:pathLst>
              <a:path h="3512672" w="11563538">
                <a:moveTo>
                  <a:pt x="0" y="0"/>
                </a:moveTo>
                <a:lnTo>
                  <a:pt x="11563538" y="0"/>
                </a:lnTo>
                <a:lnTo>
                  <a:pt x="11563538" y="3512672"/>
                </a:lnTo>
                <a:lnTo>
                  <a:pt x="0" y="35126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56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13175345" y="2370609"/>
            <a:ext cx="3205269" cy="765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7"/>
              </a:lnSpc>
              <a:spcBef>
                <a:spcPct val="0"/>
              </a:spcBef>
            </a:pPr>
            <a:r>
              <a:rPr lang="en-US" sz="4405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VSWR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126590"/>
            <a:ext cx="5116652" cy="135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8"/>
              </a:lnSpc>
            </a:pPr>
            <a:r>
              <a:rPr lang="en-US" sz="3884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Max Gain over Frequency</a:t>
            </a:r>
          </a:p>
          <a:p>
            <a:pPr algn="ctr">
              <a:lnSpc>
                <a:spcPts val="543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2946" y="8800282"/>
            <a:ext cx="688210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MNIT Jaipur</a:t>
            </a:r>
          </a:p>
          <a:p>
            <a:pPr algn="ctr">
              <a:lnSpc>
                <a:spcPts val="377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-26059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430169" y="906126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859155" y="0"/>
            <a:ext cx="1562612" cy="1673225"/>
            <a:chOff x="0" y="0"/>
            <a:chExt cx="2083482" cy="22309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75599" y="0"/>
              <a:ext cx="1932284" cy="2230967"/>
              <a:chOff x="0" y="0"/>
              <a:chExt cx="703982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0398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03982">
                    <a:moveTo>
                      <a:pt x="234787" y="793731"/>
                    </a:moveTo>
                    <a:cubicBezTo>
                      <a:pt x="270879" y="805245"/>
                      <a:pt x="311910" y="812800"/>
                      <a:pt x="352180" y="812800"/>
                    </a:cubicBezTo>
                    <a:cubicBezTo>
                      <a:pt x="392452" y="812800"/>
                      <a:pt x="431204" y="806323"/>
                      <a:pt x="466915" y="794809"/>
                    </a:cubicBezTo>
                    <a:cubicBezTo>
                      <a:pt x="467675" y="794450"/>
                      <a:pt x="468435" y="794450"/>
                      <a:pt x="469194" y="794090"/>
                    </a:cubicBezTo>
                    <a:cubicBezTo>
                      <a:pt x="603304" y="748035"/>
                      <a:pt x="702082" y="626421"/>
                      <a:pt x="703982" y="484298"/>
                    </a:cubicBezTo>
                    <a:lnTo>
                      <a:pt x="703982" y="0"/>
                    </a:lnTo>
                    <a:lnTo>
                      <a:pt x="0" y="0"/>
                    </a:lnTo>
                    <a:lnTo>
                      <a:pt x="0" y="483939"/>
                    </a:lnTo>
                    <a:cubicBezTo>
                      <a:pt x="1900" y="627140"/>
                      <a:pt x="99158" y="748755"/>
                      <a:pt x="234787" y="793731"/>
                    </a:cubicBez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703982" cy="733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437582"/>
              <a:ext cx="2083482" cy="1241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05"/>
                </a:lnSpc>
              </a:pPr>
              <a:r>
                <a:rPr lang="en-US" sz="5575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553980" y="866775"/>
            <a:ext cx="13180039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CONCLUSION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982801" y="637964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17892" y="2787456"/>
            <a:ext cx="11764909" cy="464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This project successfully demonstrates the potential of microstrip patch antennas in addressing the growing demands of high-frequency communication technologies. The compact design make this antenna a viable solution for Ku band X band applications. The research highlights the importance of careful engineering and advanced simulation techniques in antenna design.</a:t>
            </a: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1648907" y="-40227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54977" y="3748035"/>
            <a:ext cx="11627497" cy="251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sz="1469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1071" y="0"/>
            <a:ext cx="4239083" cy="10287000"/>
            <a:chOff x="0" y="0"/>
            <a:chExt cx="5652111" cy="1371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26056" y="0"/>
              <a:ext cx="2826056" cy="13716000"/>
              <a:chOff x="0" y="0"/>
              <a:chExt cx="558233" cy="27093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E0D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413028" y="0"/>
              <a:ext cx="2826056" cy="13716000"/>
              <a:chOff x="0" y="0"/>
              <a:chExt cx="558233" cy="27093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9FC3D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826056" cy="13716000"/>
              <a:chOff x="0" y="0"/>
              <a:chExt cx="558233" cy="27093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58233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558233">
                    <a:moveTo>
                      <a:pt x="0" y="0"/>
                    </a:moveTo>
                    <a:lnTo>
                      <a:pt x="558233" y="0"/>
                    </a:lnTo>
                    <a:lnTo>
                      <a:pt x="5582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E9C7C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558233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3" id="13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DAGY0Iku7TQ</dc:identifier>
  <dcterms:modified xsi:type="dcterms:W3CDTF">2011-08-01T06:04:30Z</dcterms:modified>
  <cp:revision>1</cp:revision>
  <dc:title>Thesis defense</dc:title>
</cp:coreProperties>
</file>