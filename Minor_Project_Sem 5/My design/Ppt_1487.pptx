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4"/>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Lora" charset="1" panose="00000500000000000000"/>
      <p:regular r:id="rId17"/>
    </p:embeddedFont>
    <p:embeddedFont>
      <p:font typeface="Source Sans Pro" charset="1" panose="020B0503030403020204"/>
      <p:regular r:id="rId18"/>
    </p:embeddedFont>
    <p:embeddedFont>
      <p:font typeface="Arimo Bold" charset="1" panose="020B0704020202020204"/>
      <p:regular r:id="rId19"/>
    </p:embeddedFont>
    <p:embeddedFont>
      <p:font typeface="Lora Bold" charset="1" panose="000008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notesMasters/notesMaster1.xml" Type="http://schemas.openxmlformats.org/officeDocument/2006/relationships/notesMaster"/><Relationship Id="rId15" Target="theme/theme2.xml" Type="http://schemas.openxmlformats.org/officeDocument/2006/relationships/theme"/><Relationship Id="rId16" Target="notesSlides/notesSlide1.xml" Type="http://schemas.openxmlformats.org/officeDocument/2006/relationships/note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notesSlides/notesSlide2.xml" Type="http://schemas.openxmlformats.org/officeDocument/2006/relationships/notesSlide"/><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fonts/font24.fntdata" Type="http://schemas.openxmlformats.org/officeDocument/2006/relationships/font"/><Relationship Id="rId25"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8.png" Type="http://schemas.openxmlformats.org/officeDocument/2006/relationships/image"/><Relationship Id="rId4"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2E4CF"/>
            </a:solidFill>
          </p:spPr>
        </p:sp>
      </p:grpSp>
      <p:grpSp>
        <p:nvGrpSpPr>
          <p:cNvPr name="Group 4" id="4"/>
          <p:cNvGrpSpPr/>
          <p:nvPr/>
        </p:nvGrpSpPr>
        <p:grpSpPr>
          <a:xfrm rot="0">
            <a:off x="1905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EF5E7"/>
            </a:solidFill>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905155" y="2632472"/>
            <a:ext cx="9335691" cy="1779091"/>
          </a:xfrm>
          <a:prstGeom prst="rect">
            <a:avLst/>
          </a:prstGeom>
        </p:spPr>
        <p:txBody>
          <a:bodyPr anchor="t" rtlCol="false" tIns="0" lIns="0" bIns="0" rIns="0">
            <a:spAutoFit/>
          </a:bodyPr>
          <a:lstStyle/>
          <a:p>
            <a:pPr algn="l">
              <a:lnSpc>
                <a:spcPts val="6875"/>
              </a:lnSpc>
            </a:pPr>
            <a:r>
              <a:rPr lang="en-US" sz="5500">
                <a:solidFill>
                  <a:srgbClr val="38512F"/>
                </a:solidFill>
                <a:latin typeface="Lora"/>
                <a:ea typeface="Lora"/>
                <a:cs typeface="Lora"/>
                <a:sym typeface="Lora"/>
              </a:rPr>
              <a:t>Microstrip Patch Antenna Design for Ku Band</a:t>
            </a:r>
          </a:p>
        </p:txBody>
      </p:sp>
      <p:sp>
        <p:nvSpPr>
          <p:cNvPr name="TextBox 8" id="8"/>
          <p:cNvSpPr txBox="true"/>
          <p:nvPr/>
        </p:nvSpPr>
        <p:spPr>
          <a:xfrm rot="0">
            <a:off x="7905155" y="4765030"/>
            <a:ext cx="9335691" cy="201037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This presentation details the design and simulation of a microstrip patch antenna, specifically for Ku band applications (12 GHz to 18 GHz), using CST Studio Suite software. The antenna is designed to operate at 18 GHz with high efficiency and optimal radiation characteristics.</a:t>
            </a:r>
          </a:p>
        </p:txBody>
      </p:sp>
      <p:grpSp>
        <p:nvGrpSpPr>
          <p:cNvPr name="Group 9" id="9"/>
          <p:cNvGrpSpPr/>
          <p:nvPr/>
        </p:nvGrpSpPr>
        <p:grpSpPr>
          <a:xfrm rot="0">
            <a:off x="7900392" y="7129462"/>
            <a:ext cx="488156" cy="488156"/>
            <a:chOff x="0" y="0"/>
            <a:chExt cx="650875" cy="650875"/>
          </a:xfrm>
        </p:grpSpPr>
        <p:sp>
          <p:nvSpPr>
            <p:cNvPr name="Freeform 10" id="10"/>
            <p:cNvSpPr/>
            <p:nvPr/>
          </p:nvSpPr>
          <p:spPr>
            <a:xfrm flipH="false" flipV="false" rot="0">
              <a:off x="0" y="0"/>
              <a:ext cx="650875" cy="650875"/>
            </a:xfrm>
            <a:custGeom>
              <a:avLst/>
              <a:gdLst/>
              <a:ahLst/>
              <a:cxnLst/>
              <a:rect r="r" b="b" t="t" l="l"/>
              <a:pathLst>
                <a:path h="650875" w="650875">
                  <a:moveTo>
                    <a:pt x="0" y="325374"/>
                  </a:moveTo>
                  <a:cubicBezTo>
                    <a:pt x="0" y="145669"/>
                    <a:pt x="145669" y="0"/>
                    <a:pt x="325374" y="0"/>
                  </a:cubicBezTo>
                  <a:cubicBezTo>
                    <a:pt x="327279" y="0"/>
                    <a:pt x="329184" y="889"/>
                    <a:pt x="330327" y="2413"/>
                  </a:cubicBezTo>
                  <a:lnTo>
                    <a:pt x="325374" y="6350"/>
                  </a:lnTo>
                  <a:lnTo>
                    <a:pt x="325374" y="0"/>
                  </a:lnTo>
                  <a:lnTo>
                    <a:pt x="325374" y="6350"/>
                  </a:lnTo>
                  <a:lnTo>
                    <a:pt x="325374" y="0"/>
                  </a:lnTo>
                  <a:cubicBezTo>
                    <a:pt x="505206" y="0"/>
                    <a:pt x="650875" y="145669"/>
                    <a:pt x="650875" y="325374"/>
                  </a:cubicBezTo>
                  <a:cubicBezTo>
                    <a:pt x="650875" y="327787"/>
                    <a:pt x="649478" y="329946"/>
                    <a:pt x="647319" y="331089"/>
                  </a:cubicBezTo>
                  <a:lnTo>
                    <a:pt x="644525" y="325374"/>
                  </a:lnTo>
                  <a:lnTo>
                    <a:pt x="650875" y="325374"/>
                  </a:lnTo>
                  <a:cubicBezTo>
                    <a:pt x="650875" y="505079"/>
                    <a:pt x="505206" y="650748"/>
                    <a:pt x="325501" y="650748"/>
                  </a:cubicBezTo>
                  <a:lnTo>
                    <a:pt x="325501" y="644398"/>
                  </a:lnTo>
                  <a:lnTo>
                    <a:pt x="325501" y="638048"/>
                  </a:lnTo>
                  <a:lnTo>
                    <a:pt x="325501" y="644398"/>
                  </a:lnTo>
                  <a:lnTo>
                    <a:pt x="325501" y="650748"/>
                  </a:lnTo>
                  <a:cubicBezTo>
                    <a:pt x="145669" y="650875"/>
                    <a:pt x="0" y="505206"/>
                    <a:pt x="0" y="325374"/>
                  </a:cubicBezTo>
                  <a:lnTo>
                    <a:pt x="6350" y="325374"/>
                  </a:lnTo>
                  <a:lnTo>
                    <a:pt x="0" y="325374"/>
                  </a:lnTo>
                  <a:moveTo>
                    <a:pt x="12700" y="325374"/>
                  </a:moveTo>
                  <a:lnTo>
                    <a:pt x="6350" y="325374"/>
                  </a:lnTo>
                  <a:lnTo>
                    <a:pt x="12700" y="325374"/>
                  </a:lnTo>
                  <a:cubicBezTo>
                    <a:pt x="12700" y="498094"/>
                    <a:pt x="152654" y="638048"/>
                    <a:pt x="325374" y="638048"/>
                  </a:cubicBezTo>
                  <a:cubicBezTo>
                    <a:pt x="328930" y="638048"/>
                    <a:pt x="331724" y="640842"/>
                    <a:pt x="331724" y="644398"/>
                  </a:cubicBezTo>
                  <a:cubicBezTo>
                    <a:pt x="331724" y="647954"/>
                    <a:pt x="328930" y="650748"/>
                    <a:pt x="325374" y="650748"/>
                  </a:cubicBezTo>
                  <a:cubicBezTo>
                    <a:pt x="321818" y="650748"/>
                    <a:pt x="319024" y="647954"/>
                    <a:pt x="319024" y="644398"/>
                  </a:cubicBezTo>
                  <a:cubicBezTo>
                    <a:pt x="319024" y="640842"/>
                    <a:pt x="321818" y="638048"/>
                    <a:pt x="325374" y="638048"/>
                  </a:cubicBezTo>
                  <a:cubicBezTo>
                    <a:pt x="498094" y="638048"/>
                    <a:pt x="638048" y="498094"/>
                    <a:pt x="638048" y="325374"/>
                  </a:cubicBezTo>
                  <a:cubicBezTo>
                    <a:pt x="638048" y="322961"/>
                    <a:pt x="639445" y="320802"/>
                    <a:pt x="641604" y="319659"/>
                  </a:cubicBezTo>
                  <a:lnTo>
                    <a:pt x="644398" y="325374"/>
                  </a:lnTo>
                  <a:lnTo>
                    <a:pt x="638048" y="325374"/>
                  </a:lnTo>
                  <a:cubicBezTo>
                    <a:pt x="638175" y="152654"/>
                    <a:pt x="498221" y="12700"/>
                    <a:pt x="325374" y="12700"/>
                  </a:cubicBezTo>
                  <a:cubicBezTo>
                    <a:pt x="323469" y="12700"/>
                    <a:pt x="321564" y="11811"/>
                    <a:pt x="320421" y="10287"/>
                  </a:cubicBezTo>
                  <a:lnTo>
                    <a:pt x="325374" y="6350"/>
                  </a:lnTo>
                  <a:lnTo>
                    <a:pt x="325374" y="12700"/>
                  </a:lnTo>
                  <a:cubicBezTo>
                    <a:pt x="152654" y="12700"/>
                    <a:pt x="12700" y="152654"/>
                    <a:pt x="12700" y="325374"/>
                  </a:cubicBezTo>
                  <a:close/>
                </a:path>
              </a:pathLst>
            </a:custGeom>
            <a:solidFill>
              <a:srgbClr val="FFFFFF"/>
            </a:solidFill>
          </p:spPr>
        </p:sp>
      </p:grpSp>
      <p:sp>
        <p:nvSpPr>
          <p:cNvPr name="Freeform 11" id="11" descr="preencoded.png"/>
          <p:cNvSpPr/>
          <p:nvPr/>
        </p:nvSpPr>
        <p:spPr>
          <a:xfrm flipH="false" flipV="false" rot="0">
            <a:off x="7914680" y="7143750"/>
            <a:ext cx="459581" cy="459581"/>
          </a:xfrm>
          <a:custGeom>
            <a:avLst/>
            <a:gdLst/>
            <a:ahLst/>
            <a:cxnLst/>
            <a:rect r="r" b="b" t="t" l="l"/>
            <a:pathLst>
              <a:path h="459581" w="459581">
                <a:moveTo>
                  <a:pt x="0" y="0"/>
                </a:moveTo>
                <a:lnTo>
                  <a:pt x="459581" y="0"/>
                </a:lnTo>
                <a:lnTo>
                  <a:pt x="459581" y="459581"/>
                </a:lnTo>
                <a:lnTo>
                  <a:pt x="0" y="459581"/>
                </a:lnTo>
                <a:lnTo>
                  <a:pt x="0" y="0"/>
                </a:lnTo>
                <a:close/>
              </a:path>
            </a:pathLst>
          </a:custGeom>
          <a:blipFill>
            <a:blip r:embed="rId4"/>
            <a:stretch>
              <a:fillRect l="0" t="0" r="0" b="0"/>
            </a:stretch>
          </a:blipFill>
        </p:spPr>
      </p:sp>
      <p:sp>
        <p:nvSpPr>
          <p:cNvPr name="TextBox 12" id="12"/>
          <p:cNvSpPr txBox="true"/>
          <p:nvPr/>
        </p:nvSpPr>
        <p:spPr>
          <a:xfrm rot="0">
            <a:off x="8533359" y="7045226"/>
            <a:ext cx="3801368" cy="590253"/>
          </a:xfrm>
          <a:prstGeom prst="rect">
            <a:avLst/>
          </a:prstGeom>
        </p:spPr>
        <p:txBody>
          <a:bodyPr anchor="t" rtlCol="false" tIns="0" lIns="0" bIns="0" rIns="0">
            <a:spAutoFit/>
          </a:bodyPr>
          <a:lstStyle/>
          <a:p>
            <a:pPr algn="l">
              <a:lnSpc>
                <a:spcPts val="4062"/>
              </a:lnSpc>
            </a:pPr>
            <a:r>
              <a:rPr lang="en-US" sz="2937" b="true">
                <a:solidFill>
                  <a:srgbClr val="3A3630"/>
                </a:solidFill>
                <a:latin typeface="Arimo Bold"/>
                <a:ea typeface="Arimo Bold"/>
                <a:cs typeface="Arimo Bold"/>
                <a:sym typeface="Arimo Bold"/>
              </a:rPr>
              <a:t>by DEVASHISH TUSHAR</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2E4C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EF5E7"/>
            </a:solidFill>
          </p:spPr>
        </p:sp>
      </p:grpSp>
      <p:sp>
        <p:nvSpPr>
          <p:cNvPr name="TextBox 6" id="6"/>
          <p:cNvSpPr txBox="true"/>
          <p:nvPr/>
        </p:nvSpPr>
        <p:spPr>
          <a:xfrm rot="0">
            <a:off x="1047155" y="3327499"/>
            <a:ext cx="13534281" cy="899071"/>
          </a:xfrm>
          <a:prstGeom prst="rect">
            <a:avLst/>
          </a:prstGeom>
        </p:spPr>
        <p:txBody>
          <a:bodyPr anchor="t" rtlCol="false" tIns="0" lIns="0" bIns="0" rIns="0">
            <a:spAutoFit/>
          </a:bodyPr>
          <a:lstStyle/>
          <a:p>
            <a:pPr algn="l">
              <a:lnSpc>
                <a:spcPts val="6875"/>
              </a:lnSpc>
            </a:pPr>
            <a:r>
              <a:rPr lang="en-US" sz="5500">
                <a:solidFill>
                  <a:srgbClr val="38512F"/>
                </a:solidFill>
                <a:latin typeface="Lora"/>
                <a:ea typeface="Lora"/>
                <a:cs typeface="Lora"/>
                <a:sym typeface="Lora"/>
              </a:rPr>
              <a:t>Introduction to Micrstrip Patch Antennas</a:t>
            </a:r>
          </a:p>
        </p:txBody>
      </p:sp>
      <p:sp>
        <p:nvSpPr>
          <p:cNvPr name="TextBox 7" id="7"/>
          <p:cNvSpPr txBox="true"/>
          <p:nvPr/>
        </p:nvSpPr>
        <p:spPr>
          <a:xfrm rot="0">
            <a:off x="1047155" y="4955381"/>
            <a:ext cx="3520231" cy="458986"/>
          </a:xfrm>
          <a:prstGeom prst="rect">
            <a:avLst/>
          </a:prstGeom>
        </p:spPr>
        <p:txBody>
          <a:bodyPr anchor="t" rtlCol="false" tIns="0" lIns="0" bIns="0" rIns="0">
            <a:spAutoFit/>
          </a:bodyPr>
          <a:lstStyle/>
          <a:p>
            <a:pPr algn="l">
              <a:lnSpc>
                <a:spcPts val="3437"/>
              </a:lnSpc>
            </a:pPr>
            <a:r>
              <a:rPr lang="en-US" sz="2750">
                <a:solidFill>
                  <a:srgbClr val="38512F"/>
                </a:solidFill>
                <a:latin typeface="Lora"/>
                <a:ea typeface="Lora"/>
                <a:cs typeface="Lora"/>
                <a:sym typeface="Lora"/>
              </a:rPr>
              <a:t>Compact Size</a:t>
            </a:r>
          </a:p>
        </p:txBody>
      </p:sp>
      <p:sp>
        <p:nvSpPr>
          <p:cNvPr name="TextBox 8" id="8"/>
          <p:cNvSpPr txBox="true"/>
          <p:nvPr/>
        </p:nvSpPr>
        <p:spPr>
          <a:xfrm rot="0">
            <a:off x="1047155" y="5618261"/>
            <a:ext cx="7731919" cy="105281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These antennas are compact and easy to integrate into modern devices.</a:t>
            </a:r>
          </a:p>
        </p:txBody>
      </p:sp>
      <p:sp>
        <p:nvSpPr>
          <p:cNvPr name="TextBox 9" id="9"/>
          <p:cNvSpPr txBox="true"/>
          <p:nvPr/>
        </p:nvSpPr>
        <p:spPr>
          <a:xfrm rot="0">
            <a:off x="9518451" y="4955381"/>
            <a:ext cx="3520231" cy="458986"/>
          </a:xfrm>
          <a:prstGeom prst="rect">
            <a:avLst/>
          </a:prstGeom>
        </p:spPr>
        <p:txBody>
          <a:bodyPr anchor="t" rtlCol="false" tIns="0" lIns="0" bIns="0" rIns="0">
            <a:spAutoFit/>
          </a:bodyPr>
          <a:lstStyle/>
          <a:p>
            <a:pPr algn="l">
              <a:lnSpc>
                <a:spcPts val="3437"/>
              </a:lnSpc>
            </a:pPr>
            <a:r>
              <a:rPr lang="en-US" sz="2750">
                <a:solidFill>
                  <a:srgbClr val="38512F"/>
                </a:solidFill>
                <a:latin typeface="Lora"/>
                <a:ea typeface="Lora"/>
                <a:cs typeface="Lora"/>
                <a:sym typeface="Lora"/>
              </a:rPr>
              <a:t>Low Cost</a:t>
            </a:r>
          </a:p>
        </p:txBody>
      </p:sp>
      <p:sp>
        <p:nvSpPr>
          <p:cNvPr name="TextBox 10" id="10"/>
          <p:cNvSpPr txBox="true"/>
          <p:nvPr/>
        </p:nvSpPr>
        <p:spPr>
          <a:xfrm rot="0">
            <a:off x="9518451" y="5618261"/>
            <a:ext cx="7731919" cy="105281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The design process and fabrication of these antennas are cost-effective.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2E4C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EF5E7"/>
            </a:solidFill>
          </p:spPr>
        </p:sp>
      </p:grpSp>
      <p:sp>
        <p:nvSpPr>
          <p:cNvPr name="Freeform 6" id="6" descr="preencoded.png"/>
          <p:cNvSpPr/>
          <p:nvPr/>
        </p:nvSpPr>
        <p:spPr>
          <a:xfrm flipH="false" flipV="false" rot="0">
            <a:off x="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3"/>
            <a:stretch>
              <a:fillRect l="0" t="0" r="0" b="0"/>
            </a:stretch>
          </a:blipFill>
        </p:spPr>
      </p:sp>
      <p:sp>
        <p:nvSpPr>
          <p:cNvPr name="TextBox 7" id="7"/>
          <p:cNvSpPr txBox="true"/>
          <p:nvPr/>
        </p:nvSpPr>
        <p:spPr>
          <a:xfrm rot="0">
            <a:off x="7905155" y="3043981"/>
            <a:ext cx="7040612" cy="899071"/>
          </a:xfrm>
          <a:prstGeom prst="rect">
            <a:avLst/>
          </a:prstGeom>
        </p:spPr>
        <p:txBody>
          <a:bodyPr anchor="t" rtlCol="false" tIns="0" lIns="0" bIns="0" rIns="0">
            <a:spAutoFit/>
          </a:bodyPr>
          <a:lstStyle/>
          <a:p>
            <a:pPr algn="l">
              <a:lnSpc>
                <a:spcPts val="6875"/>
              </a:lnSpc>
            </a:pPr>
            <a:r>
              <a:rPr lang="en-US" sz="5500">
                <a:solidFill>
                  <a:srgbClr val="38512F"/>
                </a:solidFill>
                <a:latin typeface="Lora"/>
                <a:ea typeface="Lora"/>
                <a:cs typeface="Lora"/>
                <a:sym typeface="Lora"/>
              </a:rPr>
              <a:t>Why Ku Band?</a:t>
            </a:r>
          </a:p>
        </p:txBody>
      </p:sp>
      <p:grpSp>
        <p:nvGrpSpPr>
          <p:cNvPr name="Group 8" id="8"/>
          <p:cNvGrpSpPr/>
          <p:nvPr/>
        </p:nvGrpSpPr>
        <p:grpSpPr>
          <a:xfrm rot="0">
            <a:off x="7905155" y="4728270"/>
            <a:ext cx="673150" cy="673150"/>
            <a:chOff x="0" y="0"/>
            <a:chExt cx="897533" cy="897533"/>
          </a:xfrm>
        </p:grpSpPr>
        <p:sp>
          <p:nvSpPr>
            <p:cNvPr name="Freeform 9" id="9"/>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F3E7D4"/>
            </a:solidFill>
          </p:spPr>
        </p:sp>
      </p:grpSp>
      <p:sp>
        <p:nvSpPr>
          <p:cNvPr name="TextBox 10" id="10"/>
          <p:cNvSpPr txBox="true"/>
          <p:nvPr/>
        </p:nvSpPr>
        <p:spPr>
          <a:xfrm rot="0">
            <a:off x="8164711" y="4920257"/>
            <a:ext cx="153889" cy="355699"/>
          </a:xfrm>
          <a:prstGeom prst="rect">
            <a:avLst/>
          </a:prstGeom>
        </p:spPr>
        <p:txBody>
          <a:bodyPr anchor="t" rtlCol="false" tIns="0" lIns="0" bIns="0" rIns="0">
            <a:spAutoFit/>
          </a:bodyPr>
          <a:lstStyle/>
          <a:p>
            <a:pPr algn="ctr">
              <a:lnSpc>
                <a:spcPts val="3312"/>
              </a:lnSpc>
            </a:pPr>
            <a:r>
              <a:rPr lang="en-US" sz="3312">
                <a:solidFill>
                  <a:srgbClr val="3A3630"/>
                </a:solidFill>
                <a:latin typeface="Lora"/>
                <a:ea typeface="Lora"/>
                <a:cs typeface="Lora"/>
                <a:sym typeface="Lora"/>
              </a:rPr>
              <a:t>1</a:t>
            </a:r>
          </a:p>
        </p:txBody>
      </p:sp>
      <p:sp>
        <p:nvSpPr>
          <p:cNvPr name="TextBox 11" id="11"/>
          <p:cNvSpPr txBox="true"/>
          <p:nvPr/>
        </p:nvSpPr>
        <p:spPr>
          <a:xfrm rot="0">
            <a:off x="8877449" y="4709220"/>
            <a:ext cx="3545979" cy="898922"/>
          </a:xfrm>
          <a:prstGeom prst="rect">
            <a:avLst/>
          </a:prstGeom>
        </p:spPr>
        <p:txBody>
          <a:bodyPr anchor="t" rtlCol="false" tIns="0" lIns="0" bIns="0" rIns="0">
            <a:spAutoFit/>
          </a:bodyPr>
          <a:lstStyle/>
          <a:p>
            <a:pPr algn="l">
              <a:lnSpc>
                <a:spcPts val="3437"/>
              </a:lnSpc>
            </a:pPr>
            <a:r>
              <a:rPr lang="en-US" sz="2750">
                <a:solidFill>
                  <a:srgbClr val="3A3630"/>
                </a:solidFill>
                <a:latin typeface="Lora"/>
                <a:ea typeface="Lora"/>
                <a:cs typeface="Lora"/>
                <a:sym typeface="Lora"/>
              </a:rPr>
              <a:t>High-Speed Communication</a:t>
            </a:r>
          </a:p>
        </p:txBody>
      </p:sp>
      <p:sp>
        <p:nvSpPr>
          <p:cNvPr name="TextBox 12" id="12"/>
          <p:cNvSpPr txBox="true"/>
          <p:nvPr/>
        </p:nvSpPr>
        <p:spPr>
          <a:xfrm rot="0">
            <a:off x="8877449" y="5692379"/>
            <a:ext cx="3545979" cy="153159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Ku band frequencies allow for higher data rates and improved signal quality.</a:t>
            </a:r>
          </a:p>
        </p:txBody>
      </p:sp>
      <p:grpSp>
        <p:nvGrpSpPr>
          <p:cNvPr name="Group 13" id="13"/>
          <p:cNvGrpSpPr/>
          <p:nvPr/>
        </p:nvGrpSpPr>
        <p:grpSpPr>
          <a:xfrm rot="0">
            <a:off x="12722572" y="4728270"/>
            <a:ext cx="673150" cy="673150"/>
            <a:chOff x="0" y="0"/>
            <a:chExt cx="897533" cy="897533"/>
          </a:xfrm>
        </p:grpSpPr>
        <p:sp>
          <p:nvSpPr>
            <p:cNvPr name="Freeform 14" id="14"/>
            <p:cNvSpPr/>
            <p:nvPr/>
          </p:nvSpPr>
          <p:spPr>
            <a:xfrm flipH="false" flipV="false" rot="0">
              <a:off x="0" y="0"/>
              <a:ext cx="897509" cy="897509"/>
            </a:xfrm>
            <a:custGeom>
              <a:avLst/>
              <a:gdLst/>
              <a:ahLst/>
              <a:cxnLst/>
              <a:rect r="r" b="b" t="t" l="l"/>
              <a:pathLst>
                <a:path h="897509" w="897509">
                  <a:moveTo>
                    <a:pt x="0" y="59817"/>
                  </a:moveTo>
                  <a:cubicBezTo>
                    <a:pt x="0" y="26797"/>
                    <a:pt x="26797" y="0"/>
                    <a:pt x="59817" y="0"/>
                  </a:cubicBezTo>
                  <a:lnTo>
                    <a:pt x="837692" y="0"/>
                  </a:lnTo>
                  <a:cubicBezTo>
                    <a:pt x="870712" y="0"/>
                    <a:pt x="897509" y="26797"/>
                    <a:pt x="897509" y="59817"/>
                  </a:cubicBezTo>
                  <a:lnTo>
                    <a:pt x="897509" y="837692"/>
                  </a:lnTo>
                  <a:cubicBezTo>
                    <a:pt x="897509" y="870712"/>
                    <a:pt x="870712" y="897509"/>
                    <a:pt x="837692" y="897509"/>
                  </a:cubicBezTo>
                  <a:lnTo>
                    <a:pt x="59817" y="897509"/>
                  </a:lnTo>
                  <a:cubicBezTo>
                    <a:pt x="26797" y="897509"/>
                    <a:pt x="0" y="870712"/>
                    <a:pt x="0" y="837692"/>
                  </a:cubicBezTo>
                  <a:close/>
                </a:path>
              </a:pathLst>
            </a:custGeom>
            <a:solidFill>
              <a:srgbClr val="F3E7D4"/>
            </a:solidFill>
          </p:spPr>
        </p:sp>
      </p:grpSp>
      <p:sp>
        <p:nvSpPr>
          <p:cNvPr name="TextBox 15" id="15"/>
          <p:cNvSpPr txBox="true"/>
          <p:nvPr/>
        </p:nvSpPr>
        <p:spPr>
          <a:xfrm rot="0">
            <a:off x="12945666" y="4920257"/>
            <a:ext cx="226962" cy="355699"/>
          </a:xfrm>
          <a:prstGeom prst="rect">
            <a:avLst/>
          </a:prstGeom>
        </p:spPr>
        <p:txBody>
          <a:bodyPr anchor="t" rtlCol="false" tIns="0" lIns="0" bIns="0" rIns="0">
            <a:spAutoFit/>
          </a:bodyPr>
          <a:lstStyle/>
          <a:p>
            <a:pPr algn="ctr">
              <a:lnSpc>
                <a:spcPts val="3312"/>
              </a:lnSpc>
            </a:pPr>
            <a:r>
              <a:rPr lang="en-US" sz="3312">
                <a:solidFill>
                  <a:srgbClr val="3A3630"/>
                </a:solidFill>
                <a:latin typeface="Lora"/>
                <a:ea typeface="Lora"/>
                <a:cs typeface="Lora"/>
                <a:sym typeface="Lora"/>
              </a:rPr>
              <a:t>2</a:t>
            </a:r>
          </a:p>
        </p:txBody>
      </p:sp>
      <p:sp>
        <p:nvSpPr>
          <p:cNvPr name="TextBox 16" id="16"/>
          <p:cNvSpPr txBox="true"/>
          <p:nvPr/>
        </p:nvSpPr>
        <p:spPr>
          <a:xfrm rot="0">
            <a:off x="13694866" y="4709220"/>
            <a:ext cx="3545979" cy="898922"/>
          </a:xfrm>
          <a:prstGeom prst="rect">
            <a:avLst/>
          </a:prstGeom>
        </p:spPr>
        <p:txBody>
          <a:bodyPr anchor="t" rtlCol="false" tIns="0" lIns="0" bIns="0" rIns="0">
            <a:spAutoFit/>
          </a:bodyPr>
          <a:lstStyle/>
          <a:p>
            <a:pPr algn="l">
              <a:lnSpc>
                <a:spcPts val="3437"/>
              </a:lnSpc>
            </a:pPr>
            <a:r>
              <a:rPr lang="en-US" sz="2750">
                <a:solidFill>
                  <a:srgbClr val="3A3630"/>
                </a:solidFill>
                <a:latin typeface="Lora"/>
                <a:ea typeface="Lora"/>
                <a:cs typeface="Lora"/>
                <a:sym typeface="Lora"/>
              </a:rPr>
              <a:t>Satellite Communications</a:t>
            </a:r>
          </a:p>
        </p:txBody>
      </p:sp>
      <p:sp>
        <p:nvSpPr>
          <p:cNvPr name="TextBox 17" id="17"/>
          <p:cNvSpPr txBox="true"/>
          <p:nvPr/>
        </p:nvSpPr>
        <p:spPr>
          <a:xfrm rot="0">
            <a:off x="13694866" y="5692379"/>
            <a:ext cx="3545979" cy="153159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Ku band is widely used in satellite broadcasting and mobile services.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2E4C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EF5E7"/>
            </a:solidFill>
          </p:spPr>
        </p:sp>
      </p:grpSp>
      <p:grpSp>
        <p:nvGrpSpPr>
          <p:cNvPr name="Group 6" id="6"/>
          <p:cNvGrpSpPr/>
          <p:nvPr/>
        </p:nvGrpSpPr>
        <p:grpSpPr>
          <a:xfrm rot="0">
            <a:off x="1047155" y="6350942"/>
            <a:ext cx="5198417" cy="2654052"/>
            <a:chOff x="0" y="0"/>
            <a:chExt cx="6931223" cy="3538737"/>
          </a:xfrm>
        </p:grpSpPr>
        <p:sp>
          <p:nvSpPr>
            <p:cNvPr name="Freeform 7" id="7"/>
            <p:cNvSpPr/>
            <p:nvPr/>
          </p:nvSpPr>
          <p:spPr>
            <a:xfrm flipH="false" flipV="false" rot="0">
              <a:off x="0" y="0"/>
              <a:ext cx="6931152" cy="3538728"/>
            </a:xfrm>
            <a:custGeom>
              <a:avLst/>
              <a:gdLst/>
              <a:ahLst/>
              <a:cxnLst/>
              <a:rect r="r" b="b" t="t" l="l"/>
              <a:pathLst>
                <a:path h="3538728" w="6931152">
                  <a:moveTo>
                    <a:pt x="0" y="59817"/>
                  </a:moveTo>
                  <a:cubicBezTo>
                    <a:pt x="0" y="26797"/>
                    <a:pt x="26797" y="0"/>
                    <a:pt x="59817" y="0"/>
                  </a:cubicBezTo>
                  <a:lnTo>
                    <a:pt x="6871335" y="0"/>
                  </a:lnTo>
                  <a:cubicBezTo>
                    <a:pt x="6904355" y="0"/>
                    <a:pt x="6931152" y="26797"/>
                    <a:pt x="6931152" y="59817"/>
                  </a:cubicBezTo>
                  <a:lnTo>
                    <a:pt x="6931152" y="3478911"/>
                  </a:lnTo>
                  <a:cubicBezTo>
                    <a:pt x="6931152" y="3511931"/>
                    <a:pt x="6904355" y="3538728"/>
                    <a:pt x="6871335" y="3538728"/>
                  </a:cubicBezTo>
                  <a:lnTo>
                    <a:pt x="59817" y="3538728"/>
                  </a:lnTo>
                  <a:cubicBezTo>
                    <a:pt x="26797" y="3538728"/>
                    <a:pt x="0" y="3511931"/>
                    <a:pt x="0" y="3478911"/>
                  </a:cubicBezTo>
                  <a:close/>
                </a:path>
              </a:pathLst>
            </a:custGeom>
            <a:solidFill>
              <a:srgbClr val="F3E7D4"/>
            </a:solidFill>
          </p:spPr>
        </p:sp>
      </p:grpSp>
      <p:grpSp>
        <p:nvGrpSpPr>
          <p:cNvPr name="Group 8" id="8"/>
          <p:cNvGrpSpPr/>
          <p:nvPr/>
        </p:nvGrpSpPr>
        <p:grpSpPr>
          <a:xfrm rot="0">
            <a:off x="6544716" y="6350942"/>
            <a:ext cx="5198417" cy="2654052"/>
            <a:chOff x="0" y="0"/>
            <a:chExt cx="6931223" cy="3538737"/>
          </a:xfrm>
        </p:grpSpPr>
        <p:sp>
          <p:nvSpPr>
            <p:cNvPr name="Freeform 9" id="9"/>
            <p:cNvSpPr/>
            <p:nvPr/>
          </p:nvSpPr>
          <p:spPr>
            <a:xfrm flipH="false" flipV="false" rot="0">
              <a:off x="0" y="0"/>
              <a:ext cx="6931152" cy="3538728"/>
            </a:xfrm>
            <a:custGeom>
              <a:avLst/>
              <a:gdLst/>
              <a:ahLst/>
              <a:cxnLst/>
              <a:rect r="r" b="b" t="t" l="l"/>
              <a:pathLst>
                <a:path h="3538728" w="6931152">
                  <a:moveTo>
                    <a:pt x="0" y="59817"/>
                  </a:moveTo>
                  <a:cubicBezTo>
                    <a:pt x="0" y="26797"/>
                    <a:pt x="26797" y="0"/>
                    <a:pt x="59817" y="0"/>
                  </a:cubicBezTo>
                  <a:lnTo>
                    <a:pt x="6871335" y="0"/>
                  </a:lnTo>
                  <a:cubicBezTo>
                    <a:pt x="6904355" y="0"/>
                    <a:pt x="6931152" y="26797"/>
                    <a:pt x="6931152" y="59817"/>
                  </a:cubicBezTo>
                  <a:lnTo>
                    <a:pt x="6931152" y="3478911"/>
                  </a:lnTo>
                  <a:cubicBezTo>
                    <a:pt x="6931152" y="3511931"/>
                    <a:pt x="6904355" y="3538728"/>
                    <a:pt x="6871335" y="3538728"/>
                  </a:cubicBezTo>
                  <a:lnTo>
                    <a:pt x="59817" y="3538728"/>
                  </a:lnTo>
                  <a:cubicBezTo>
                    <a:pt x="26797" y="3538728"/>
                    <a:pt x="0" y="3511931"/>
                    <a:pt x="0" y="3478911"/>
                  </a:cubicBezTo>
                  <a:close/>
                </a:path>
              </a:pathLst>
            </a:custGeom>
            <a:solidFill>
              <a:srgbClr val="F3E7D4"/>
            </a:solidFill>
          </p:spPr>
        </p:sp>
      </p:grpSp>
      <p:grpSp>
        <p:nvGrpSpPr>
          <p:cNvPr name="Group 10" id="10"/>
          <p:cNvGrpSpPr/>
          <p:nvPr/>
        </p:nvGrpSpPr>
        <p:grpSpPr>
          <a:xfrm rot="0">
            <a:off x="12042279" y="6350942"/>
            <a:ext cx="5198417" cy="2654052"/>
            <a:chOff x="0" y="0"/>
            <a:chExt cx="6931223" cy="3538737"/>
          </a:xfrm>
        </p:grpSpPr>
        <p:sp>
          <p:nvSpPr>
            <p:cNvPr name="Freeform 11" id="11"/>
            <p:cNvSpPr/>
            <p:nvPr/>
          </p:nvSpPr>
          <p:spPr>
            <a:xfrm flipH="false" flipV="false" rot="0">
              <a:off x="0" y="0"/>
              <a:ext cx="6931152" cy="3538728"/>
            </a:xfrm>
            <a:custGeom>
              <a:avLst/>
              <a:gdLst/>
              <a:ahLst/>
              <a:cxnLst/>
              <a:rect r="r" b="b" t="t" l="l"/>
              <a:pathLst>
                <a:path h="3538728" w="6931152">
                  <a:moveTo>
                    <a:pt x="0" y="59817"/>
                  </a:moveTo>
                  <a:cubicBezTo>
                    <a:pt x="0" y="26797"/>
                    <a:pt x="26797" y="0"/>
                    <a:pt x="59817" y="0"/>
                  </a:cubicBezTo>
                  <a:lnTo>
                    <a:pt x="6871335" y="0"/>
                  </a:lnTo>
                  <a:cubicBezTo>
                    <a:pt x="6904355" y="0"/>
                    <a:pt x="6931152" y="26797"/>
                    <a:pt x="6931152" y="59817"/>
                  </a:cubicBezTo>
                  <a:lnTo>
                    <a:pt x="6931152" y="3478911"/>
                  </a:lnTo>
                  <a:cubicBezTo>
                    <a:pt x="6931152" y="3511931"/>
                    <a:pt x="6904355" y="3538728"/>
                    <a:pt x="6871335" y="3538728"/>
                  </a:cubicBezTo>
                  <a:lnTo>
                    <a:pt x="59817" y="3538728"/>
                  </a:lnTo>
                  <a:cubicBezTo>
                    <a:pt x="26797" y="3538728"/>
                    <a:pt x="0" y="3511931"/>
                    <a:pt x="0" y="3478911"/>
                  </a:cubicBezTo>
                  <a:close/>
                </a:path>
              </a:pathLst>
            </a:custGeom>
            <a:solidFill>
              <a:srgbClr val="F3E7D4"/>
            </a:solidFill>
          </p:spPr>
        </p:sp>
      </p:grpSp>
      <p:sp>
        <p:nvSpPr>
          <p:cNvPr name="Freeform 12" id="12"/>
          <p:cNvSpPr/>
          <p:nvPr/>
        </p:nvSpPr>
        <p:spPr>
          <a:xfrm flipH="false" flipV="false" rot="0">
            <a:off x="3646364" y="604963"/>
            <a:ext cx="11301259" cy="3969567"/>
          </a:xfrm>
          <a:custGeom>
            <a:avLst/>
            <a:gdLst/>
            <a:ahLst/>
            <a:cxnLst/>
            <a:rect r="r" b="b" t="t" l="l"/>
            <a:pathLst>
              <a:path h="3969567" w="11301259">
                <a:moveTo>
                  <a:pt x="0" y="0"/>
                </a:moveTo>
                <a:lnTo>
                  <a:pt x="11301259" y="0"/>
                </a:lnTo>
                <a:lnTo>
                  <a:pt x="11301259" y="3969567"/>
                </a:lnTo>
                <a:lnTo>
                  <a:pt x="0" y="3969567"/>
                </a:lnTo>
                <a:lnTo>
                  <a:pt x="0" y="0"/>
                </a:lnTo>
                <a:close/>
              </a:path>
            </a:pathLst>
          </a:custGeom>
          <a:blipFill>
            <a:blip r:embed="rId3"/>
            <a:stretch>
              <a:fillRect l="0" t="0" r="0" b="0"/>
            </a:stretch>
          </a:blipFill>
        </p:spPr>
      </p:sp>
      <p:sp>
        <p:nvSpPr>
          <p:cNvPr name="TextBox 13" id="13"/>
          <p:cNvSpPr txBox="true"/>
          <p:nvPr/>
        </p:nvSpPr>
        <p:spPr>
          <a:xfrm rot="0">
            <a:off x="1047155" y="5003155"/>
            <a:ext cx="12567048" cy="899071"/>
          </a:xfrm>
          <a:prstGeom prst="rect">
            <a:avLst/>
          </a:prstGeom>
        </p:spPr>
        <p:txBody>
          <a:bodyPr anchor="t" rtlCol="false" tIns="0" lIns="0" bIns="0" rIns="0">
            <a:spAutoFit/>
          </a:bodyPr>
          <a:lstStyle/>
          <a:p>
            <a:pPr algn="l">
              <a:lnSpc>
                <a:spcPts val="6875"/>
              </a:lnSpc>
            </a:pPr>
            <a:r>
              <a:rPr lang="en-US" sz="5500">
                <a:solidFill>
                  <a:srgbClr val="38512F"/>
                </a:solidFill>
                <a:latin typeface="Lora"/>
                <a:ea typeface="Lora"/>
                <a:cs typeface="Lora"/>
                <a:sym typeface="Lora"/>
              </a:rPr>
              <a:t>Design Methodology and Key Features</a:t>
            </a:r>
          </a:p>
        </p:txBody>
      </p:sp>
      <p:sp>
        <p:nvSpPr>
          <p:cNvPr name="TextBox 14" id="14"/>
          <p:cNvSpPr txBox="true"/>
          <p:nvPr/>
        </p:nvSpPr>
        <p:spPr>
          <a:xfrm rot="0">
            <a:off x="1346299" y="6631038"/>
            <a:ext cx="3520231" cy="458986"/>
          </a:xfrm>
          <a:prstGeom prst="rect">
            <a:avLst/>
          </a:prstGeom>
        </p:spPr>
        <p:txBody>
          <a:bodyPr anchor="t" rtlCol="false" tIns="0" lIns="0" bIns="0" rIns="0">
            <a:spAutoFit/>
          </a:bodyPr>
          <a:lstStyle/>
          <a:p>
            <a:pPr algn="l">
              <a:lnSpc>
                <a:spcPts val="3437"/>
              </a:lnSpc>
            </a:pPr>
            <a:r>
              <a:rPr lang="en-US" sz="2750">
                <a:solidFill>
                  <a:srgbClr val="3A3630"/>
                </a:solidFill>
                <a:latin typeface="Lora"/>
                <a:ea typeface="Lora"/>
                <a:cs typeface="Lora"/>
                <a:sym typeface="Lora"/>
              </a:rPr>
              <a:t>Square Slot Patch</a:t>
            </a:r>
          </a:p>
        </p:txBody>
      </p:sp>
      <p:sp>
        <p:nvSpPr>
          <p:cNvPr name="TextBox 15" id="15"/>
          <p:cNvSpPr txBox="true"/>
          <p:nvPr/>
        </p:nvSpPr>
        <p:spPr>
          <a:xfrm rot="0">
            <a:off x="1346299" y="7174260"/>
            <a:ext cx="4600129" cy="153159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A square slot patch with a vertical coupling strip is employed for band-notched functionality.</a:t>
            </a:r>
          </a:p>
        </p:txBody>
      </p:sp>
      <p:sp>
        <p:nvSpPr>
          <p:cNvPr name="TextBox 16" id="16"/>
          <p:cNvSpPr txBox="true"/>
          <p:nvPr/>
        </p:nvSpPr>
        <p:spPr>
          <a:xfrm rot="0">
            <a:off x="6843861" y="6631038"/>
            <a:ext cx="3520231" cy="458986"/>
          </a:xfrm>
          <a:prstGeom prst="rect">
            <a:avLst/>
          </a:prstGeom>
        </p:spPr>
        <p:txBody>
          <a:bodyPr anchor="t" rtlCol="false" tIns="0" lIns="0" bIns="0" rIns="0">
            <a:spAutoFit/>
          </a:bodyPr>
          <a:lstStyle/>
          <a:p>
            <a:pPr algn="l">
              <a:lnSpc>
                <a:spcPts val="3437"/>
              </a:lnSpc>
            </a:pPr>
            <a:r>
              <a:rPr lang="en-US" sz="2750">
                <a:solidFill>
                  <a:srgbClr val="3A3630"/>
                </a:solidFill>
                <a:latin typeface="Lora"/>
                <a:ea typeface="Lora"/>
                <a:cs typeface="Lora"/>
                <a:sym typeface="Lora"/>
              </a:rPr>
              <a:t>Feeding Mechanism</a:t>
            </a:r>
          </a:p>
        </p:txBody>
      </p:sp>
      <p:sp>
        <p:nvSpPr>
          <p:cNvPr name="TextBox 17" id="17"/>
          <p:cNvSpPr txBox="true"/>
          <p:nvPr/>
        </p:nvSpPr>
        <p:spPr>
          <a:xfrm rot="0">
            <a:off x="6843861" y="7174260"/>
            <a:ext cx="4600129" cy="153159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A 50-ohm microstrip line feeds the antenna, ensuring good impedance matching.</a:t>
            </a:r>
          </a:p>
        </p:txBody>
      </p:sp>
      <p:sp>
        <p:nvSpPr>
          <p:cNvPr name="TextBox 18" id="18"/>
          <p:cNvSpPr txBox="true"/>
          <p:nvPr/>
        </p:nvSpPr>
        <p:spPr>
          <a:xfrm rot="0">
            <a:off x="12341424" y="6631038"/>
            <a:ext cx="3520231" cy="458986"/>
          </a:xfrm>
          <a:prstGeom prst="rect">
            <a:avLst/>
          </a:prstGeom>
        </p:spPr>
        <p:txBody>
          <a:bodyPr anchor="t" rtlCol="false" tIns="0" lIns="0" bIns="0" rIns="0">
            <a:spAutoFit/>
          </a:bodyPr>
          <a:lstStyle/>
          <a:p>
            <a:pPr algn="l">
              <a:lnSpc>
                <a:spcPts val="3437"/>
              </a:lnSpc>
            </a:pPr>
            <a:r>
              <a:rPr lang="en-US" sz="2750">
                <a:solidFill>
                  <a:srgbClr val="3A3630"/>
                </a:solidFill>
                <a:latin typeface="Lora"/>
                <a:ea typeface="Lora"/>
                <a:cs typeface="Lora"/>
                <a:sym typeface="Lora"/>
              </a:rPr>
              <a:t>Substrate Properties</a:t>
            </a:r>
          </a:p>
        </p:txBody>
      </p:sp>
      <p:sp>
        <p:nvSpPr>
          <p:cNvPr name="TextBox 19" id="19"/>
          <p:cNvSpPr txBox="true"/>
          <p:nvPr/>
        </p:nvSpPr>
        <p:spPr>
          <a:xfrm rot="0">
            <a:off x="12341424" y="7174260"/>
            <a:ext cx="4600129" cy="1531590"/>
          </a:xfrm>
          <a:prstGeom prst="rect">
            <a:avLst/>
          </a:prstGeom>
        </p:spPr>
        <p:txBody>
          <a:bodyPr anchor="t" rtlCol="false" tIns="0" lIns="0" bIns="0" rIns="0">
            <a:spAutoFit/>
          </a:bodyPr>
          <a:lstStyle/>
          <a:p>
            <a:pPr algn="l">
              <a:lnSpc>
                <a:spcPts val="3750"/>
              </a:lnSpc>
            </a:pPr>
            <a:r>
              <a:rPr lang="en-US" sz="2312">
                <a:solidFill>
                  <a:srgbClr val="3A3630"/>
                </a:solidFill>
                <a:latin typeface="Source Sans Pro"/>
                <a:ea typeface="Source Sans Pro"/>
                <a:cs typeface="Source Sans Pro"/>
                <a:sym typeface="Source Sans Pro"/>
              </a:rPr>
              <a:t>The antenna is fabricated on an FR4 substrate with a dielectric constant of 4.3 and a loss tangent of 0.02.</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2E4C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EF5E7"/>
            </a:solidFill>
          </p:spPr>
        </p:sp>
      </p:grpSp>
      <p:sp>
        <p:nvSpPr>
          <p:cNvPr name="Freeform 6" id="6"/>
          <p:cNvSpPr/>
          <p:nvPr/>
        </p:nvSpPr>
        <p:spPr>
          <a:xfrm flipH="false" flipV="false" rot="0">
            <a:off x="1562558" y="4242480"/>
            <a:ext cx="11794762" cy="4068453"/>
          </a:xfrm>
          <a:custGeom>
            <a:avLst/>
            <a:gdLst/>
            <a:ahLst/>
            <a:cxnLst/>
            <a:rect r="r" b="b" t="t" l="l"/>
            <a:pathLst>
              <a:path h="4068453" w="11794762">
                <a:moveTo>
                  <a:pt x="0" y="0"/>
                </a:moveTo>
                <a:lnTo>
                  <a:pt x="11794762" y="0"/>
                </a:lnTo>
                <a:lnTo>
                  <a:pt x="11794762" y="4068453"/>
                </a:lnTo>
                <a:lnTo>
                  <a:pt x="0" y="4068453"/>
                </a:lnTo>
                <a:lnTo>
                  <a:pt x="0" y="0"/>
                </a:lnTo>
                <a:close/>
              </a:path>
            </a:pathLst>
          </a:custGeom>
          <a:blipFill>
            <a:blip r:embed="rId3"/>
            <a:stretch>
              <a:fillRect l="0" t="-2183" r="0" b="-2183"/>
            </a:stretch>
          </a:blipFill>
        </p:spPr>
      </p:sp>
      <p:sp>
        <p:nvSpPr>
          <p:cNvPr name="TextBox 7" id="7"/>
          <p:cNvSpPr txBox="true"/>
          <p:nvPr/>
        </p:nvSpPr>
        <p:spPr>
          <a:xfrm rot="0">
            <a:off x="855315" y="652909"/>
            <a:ext cx="5750124" cy="704850"/>
          </a:xfrm>
          <a:prstGeom prst="rect">
            <a:avLst/>
          </a:prstGeom>
        </p:spPr>
        <p:txBody>
          <a:bodyPr anchor="t" rtlCol="false" tIns="0" lIns="0" bIns="0" rIns="0">
            <a:spAutoFit/>
          </a:bodyPr>
          <a:lstStyle/>
          <a:p>
            <a:pPr algn="l">
              <a:lnSpc>
                <a:spcPts val="5625"/>
              </a:lnSpc>
            </a:pPr>
            <a:r>
              <a:rPr lang="en-US" b="true" sz="4499" u="sng">
                <a:solidFill>
                  <a:srgbClr val="38512F"/>
                </a:solidFill>
                <a:latin typeface="Lora Bold"/>
                <a:ea typeface="Lora Bold"/>
                <a:cs typeface="Lora Bold"/>
                <a:sym typeface="Lora Bold"/>
              </a:rPr>
              <a:t>Simulation Results</a:t>
            </a:r>
          </a:p>
        </p:txBody>
      </p:sp>
      <p:sp>
        <p:nvSpPr>
          <p:cNvPr name="TextBox 8" id="8"/>
          <p:cNvSpPr txBox="true"/>
          <p:nvPr/>
        </p:nvSpPr>
        <p:spPr>
          <a:xfrm rot="0">
            <a:off x="-2567426" y="2097110"/>
            <a:ext cx="9719370" cy="846138"/>
          </a:xfrm>
          <a:prstGeom prst="rect">
            <a:avLst/>
          </a:prstGeom>
        </p:spPr>
        <p:txBody>
          <a:bodyPr anchor="t" rtlCol="false" tIns="0" lIns="0" bIns="0" rIns="0">
            <a:spAutoFit/>
          </a:bodyPr>
          <a:lstStyle/>
          <a:p>
            <a:pPr algn="ctr">
              <a:lnSpc>
                <a:spcPts val="6312"/>
              </a:lnSpc>
            </a:pPr>
            <a:r>
              <a:rPr lang="en-US" sz="6312">
                <a:solidFill>
                  <a:srgbClr val="3A3630"/>
                </a:solidFill>
                <a:latin typeface="Lora"/>
                <a:ea typeface="Lora"/>
                <a:cs typeface="Lora"/>
                <a:sym typeface="Lora"/>
              </a:rPr>
              <a:t>S11</a:t>
            </a:r>
          </a:p>
        </p:txBody>
      </p:sp>
      <p:sp>
        <p:nvSpPr>
          <p:cNvPr name="TextBox 9" id="9"/>
          <p:cNvSpPr txBox="true"/>
          <p:nvPr/>
        </p:nvSpPr>
        <p:spPr>
          <a:xfrm rot="0">
            <a:off x="588386" y="3073535"/>
            <a:ext cx="9719370" cy="436775"/>
          </a:xfrm>
          <a:prstGeom prst="rect">
            <a:avLst/>
          </a:prstGeom>
        </p:spPr>
        <p:txBody>
          <a:bodyPr anchor="t" rtlCol="false" tIns="0" lIns="0" bIns="0" rIns="0">
            <a:spAutoFit/>
          </a:bodyPr>
          <a:lstStyle/>
          <a:p>
            <a:pPr algn="ctr">
              <a:lnSpc>
                <a:spcPts val="3715"/>
              </a:lnSpc>
            </a:pPr>
            <a:r>
              <a:rPr lang="en-US" sz="2274">
                <a:solidFill>
                  <a:srgbClr val="3A3630"/>
                </a:solidFill>
                <a:latin typeface="Source Sans Pro"/>
                <a:ea typeface="Source Sans Pro"/>
                <a:cs typeface="Source Sans Pro"/>
                <a:sym typeface="Source Sans Pro"/>
              </a:rPr>
              <a:t>-37.30 dB at 18 GHz, indicating excellent impedance matching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EF5E7"/>
        </a:solidFill>
      </p:bgPr>
    </p:bg>
    <p:spTree>
      <p:nvGrpSpPr>
        <p:cNvPr id="1" name=""/>
        <p:cNvGrpSpPr/>
        <p:nvPr/>
      </p:nvGrpSpPr>
      <p:grpSpPr>
        <a:xfrm>
          <a:off x="0" y="0"/>
          <a:ext cx="0" cy="0"/>
          <a:chOff x="0" y="0"/>
          <a:chExt cx="0" cy="0"/>
        </a:xfrm>
      </p:grpSpPr>
      <p:sp>
        <p:nvSpPr>
          <p:cNvPr name="Freeform 2" id="2"/>
          <p:cNvSpPr/>
          <p:nvPr/>
        </p:nvSpPr>
        <p:spPr>
          <a:xfrm flipH="false" flipV="false" rot="0">
            <a:off x="2425655" y="3130463"/>
            <a:ext cx="13617972" cy="4654723"/>
          </a:xfrm>
          <a:custGeom>
            <a:avLst/>
            <a:gdLst/>
            <a:ahLst/>
            <a:cxnLst/>
            <a:rect r="r" b="b" t="t" l="l"/>
            <a:pathLst>
              <a:path h="4654723" w="13617972">
                <a:moveTo>
                  <a:pt x="0" y="0"/>
                </a:moveTo>
                <a:lnTo>
                  <a:pt x="13617972" y="0"/>
                </a:lnTo>
                <a:lnTo>
                  <a:pt x="13617972" y="4654723"/>
                </a:lnTo>
                <a:lnTo>
                  <a:pt x="0" y="4654723"/>
                </a:lnTo>
                <a:lnTo>
                  <a:pt x="0" y="0"/>
                </a:lnTo>
                <a:close/>
              </a:path>
            </a:pathLst>
          </a:custGeom>
          <a:blipFill>
            <a:blip r:embed="rId2"/>
            <a:stretch>
              <a:fillRect l="0" t="0" r="-1102" b="-5374"/>
            </a:stretch>
          </a:blipFill>
        </p:spPr>
      </p:sp>
      <p:sp>
        <p:nvSpPr>
          <p:cNvPr name="TextBox 3" id="3"/>
          <p:cNvSpPr txBox="true"/>
          <p:nvPr/>
        </p:nvSpPr>
        <p:spPr>
          <a:xfrm rot="0">
            <a:off x="-1341715" y="939766"/>
            <a:ext cx="9719370" cy="846138"/>
          </a:xfrm>
          <a:prstGeom prst="rect">
            <a:avLst/>
          </a:prstGeom>
        </p:spPr>
        <p:txBody>
          <a:bodyPr anchor="t" rtlCol="false" tIns="0" lIns="0" bIns="0" rIns="0">
            <a:spAutoFit/>
          </a:bodyPr>
          <a:lstStyle/>
          <a:p>
            <a:pPr algn="ctr">
              <a:lnSpc>
                <a:spcPts val="6312"/>
              </a:lnSpc>
            </a:pPr>
            <a:r>
              <a:rPr lang="en-US" sz="6312">
                <a:solidFill>
                  <a:srgbClr val="3A3630"/>
                </a:solidFill>
                <a:latin typeface="Lora"/>
                <a:ea typeface="Lora"/>
                <a:cs typeface="Lora"/>
                <a:sym typeface="Lora"/>
              </a:rPr>
              <a:t>VSWR</a:t>
            </a:r>
          </a:p>
        </p:txBody>
      </p:sp>
      <p:sp>
        <p:nvSpPr>
          <p:cNvPr name="TextBox 4" id="4"/>
          <p:cNvSpPr txBox="true"/>
          <p:nvPr/>
        </p:nvSpPr>
        <p:spPr>
          <a:xfrm rot="0">
            <a:off x="1028700" y="1971099"/>
            <a:ext cx="9719370" cy="436775"/>
          </a:xfrm>
          <a:prstGeom prst="rect">
            <a:avLst/>
          </a:prstGeom>
        </p:spPr>
        <p:txBody>
          <a:bodyPr anchor="t" rtlCol="false" tIns="0" lIns="0" bIns="0" rIns="0">
            <a:spAutoFit/>
          </a:bodyPr>
          <a:lstStyle/>
          <a:p>
            <a:pPr algn="ctr">
              <a:lnSpc>
                <a:spcPts val="3715"/>
              </a:lnSpc>
            </a:pPr>
            <a:r>
              <a:rPr lang="en-US" sz="2274">
                <a:solidFill>
                  <a:srgbClr val="3A3630"/>
                </a:solidFill>
                <a:latin typeface="Source Sans Pro"/>
                <a:ea typeface="Source Sans Pro"/>
                <a:cs typeface="Source Sans Pro"/>
                <a:sym typeface="Source Sans Pro"/>
              </a:rPr>
              <a:t>1.037 at 18 GHz, ensuring efficient power transmission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EF5E7"/>
        </a:solidFill>
      </p:bgPr>
    </p:bg>
    <p:spTree>
      <p:nvGrpSpPr>
        <p:cNvPr id="1" name=""/>
        <p:cNvGrpSpPr/>
        <p:nvPr/>
      </p:nvGrpSpPr>
      <p:grpSpPr>
        <a:xfrm>
          <a:off x="0" y="0"/>
          <a:ext cx="0" cy="0"/>
          <a:chOff x="0" y="0"/>
          <a:chExt cx="0" cy="0"/>
        </a:xfrm>
      </p:grpSpPr>
      <p:sp>
        <p:nvSpPr>
          <p:cNvPr name="Freeform 2" id="2"/>
          <p:cNvSpPr/>
          <p:nvPr/>
        </p:nvSpPr>
        <p:spPr>
          <a:xfrm flipH="false" flipV="false" rot="0">
            <a:off x="2692584" y="3521247"/>
            <a:ext cx="13421255" cy="4730992"/>
          </a:xfrm>
          <a:custGeom>
            <a:avLst/>
            <a:gdLst/>
            <a:ahLst/>
            <a:cxnLst/>
            <a:rect r="r" b="b" t="t" l="l"/>
            <a:pathLst>
              <a:path h="4730992" w="13421255">
                <a:moveTo>
                  <a:pt x="0" y="0"/>
                </a:moveTo>
                <a:lnTo>
                  <a:pt x="13421255" y="0"/>
                </a:lnTo>
                <a:lnTo>
                  <a:pt x="13421255" y="4730992"/>
                </a:lnTo>
                <a:lnTo>
                  <a:pt x="0" y="4730992"/>
                </a:lnTo>
                <a:lnTo>
                  <a:pt x="0" y="0"/>
                </a:lnTo>
                <a:close/>
              </a:path>
            </a:pathLst>
          </a:custGeom>
          <a:blipFill>
            <a:blip r:embed="rId2"/>
            <a:stretch>
              <a:fillRect l="0" t="0" r="0" b="0"/>
            </a:stretch>
          </a:blipFill>
        </p:spPr>
      </p:sp>
      <p:sp>
        <p:nvSpPr>
          <p:cNvPr name="TextBox 3" id="3"/>
          <p:cNvSpPr txBox="true"/>
          <p:nvPr/>
        </p:nvSpPr>
        <p:spPr>
          <a:xfrm rot="0">
            <a:off x="-1321182" y="1143000"/>
            <a:ext cx="9719370" cy="846138"/>
          </a:xfrm>
          <a:prstGeom prst="rect">
            <a:avLst/>
          </a:prstGeom>
        </p:spPr>
        <p:txBody>
          <a:bodyPr anchor="t" rtlCol="false" tIns="0" lIns="0" bIns="0" rIns="0">
            <a:spAutoFit/>
          </a:bodyPr>
          <a:lstStyle/>
          <a:p>
            <a:pPr algn="ctr">
              <a:lnSpc>
                <a:spcPts val="6312"/>
              </a:lnSpc>
            </a:pPr>
            <a:r>
              <a:rPr lang="en-US" sz="6312">
                <a:solidFill>
                  <a:srgbClr val="3A3630"/>
                </a:solidFill>
                <a:latin typeface="Lora"/>
                <a:ea typeface="Lora"/>
                <a:cs typeface="Lora"/>
                <a:sym typeface="Lora"/>
              </a:rPr>
              <a:t>Gain</a:t>
            </a:r>
          </a:p>
        </p:txBody>
      </p:sp>
      <p:sp>
        <p:nvSpPr>
          <p:cNvPr name="TextBox 4" id="4"/>
          <p:cNvSpPr txBox="true"/>
          <p:nvPr/>
        </p:nvSpPr>
        <p:spPr>
          <a:xfrm rot="0">
            <a:off x="567853" y="2249071"/>
            <a:ext cx="9719370" cy="436775"/>
          </a:xfrm>
          <a:prstGeom prst="rect">
            <a:avLst/>
          </a:prstGeom>
        </p:spPr>
        <p:txBody>
          <a:bodyPr anchor="t" rtlCol="false" tIns="0" lIns="0" bIns="0" rIns="0">
            <a:spAutoFit/>
          </a:bodyPr>
          <a:lstStyle/>
          <a:p>
            <a:pPr algn="ctr">
              <a:lnSpc>
                <a:spcPts val="3715"/>
              </a:lnSpc>
            </a:pPr>
            <a:r>
              <a:rPr lang="en-US" sz="2274">
                <a:solidFill>
                  <a:srgbClr val="3A3630"/>
                </a:solidFill>
                <a:latin typeface="Source Sans Pro"/>
                <a:ea typeface="Source Sans Pro"/>
                <a:cs typeface="Source Sans Pro"/>
                <a:sym typeface="Source Sans Pro"/>
              </a:rPr>
              <a:t>2.1 dB, providing reliable signal propagation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2E4CF"/>
            </a:solidFill>
          </p:spPr>
        </p:sp>
      </p:grpSp>
      <p:grpSp>
        <p:nvGrpSpPr>
          <p:cNvPr name="Group 4" id="4"/>
          <p:cNvGrpSpPr/>
          <p:nvPr/>
        </p:nvGrpSpPr>
        <p:grpSpPr>
          <a:xfrm rot="0">
            <a:off x="0" y="0"/>
            <a:ext cx="18288000" cy="10287000"/>
            <a:chOff x="0" y="0"/>
            <a:chExt cx="24384000" cy="13716000"/>
          </a:xfrm>
        </p:grpSpPr>
        <p:sp>
          <p:nvSpPr>
            <p:cNvPr name="Freeform 5" id="5"/>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close/>
                </a:path>
              </a:pathLst>
            </a:custGeom>
            <a:solidFill>
              <a:srgbClr val="FEF5E7"/>
            </a:solidFill>
          </p:spPr>
        </p:sp>
      </p:grpSp>
      <p:sp>
        <p:nvSpPr>
          <p:cNvPr name="Freeform 6" id="6" descr="preencoded.png"/>
          <p:cNvSpPr/>
          <p:nvPr/>
        </p:nvSpPr>
        <p:spPr>
          <a:xfrm flipH="false" flipV="false" rot="0">
            <a:off x="16049019" y="9686925"/>
            <a:ext cx="2153256" cy="514350"/>
          </a:xfrm>
          <a:custGeom>
            <a:avLst/>
            <a:gdLst/>
            <a:ahLst/>
            <a:cxnLst/>
            <a:rect r="r" b="b" t="t" l="l"/>
            <a:pathLst>
              <a:path h="514350" w="2153256">
                <a:moveTo>
                  <a:pt x="0" y="0"/>
                </a:moveTo>
                <a:lnTo>
                  <a:pt x="2153256" y="0"/>
                </a:lnTo>
                <a:lnTo>
                  <a:pt x="2153256" y="514350"/>
                </a:lnTo>
                <a:lnTo>
                  <a:pt x="0" y="514350"/>
                </a:lnTo>
                <a:lnTo>
                  <a:pt x="0" y="0"/>
                </a:lnTo>
                <a:close/>
              </a:path>
            </a:pathLst>
          </a:custGeom>
          <a:blipFill>
            <a:blip r:embed="rId3"/>
            <a:stretch>
              <a:fillRect l="0" t="0" r="0" b="0"/>
            </a:stretch>
          </a:blipFill>
        </p:spPr>
      </p:sp>
      <p:sp>
        <p:nvSpPr>
          <p:cNvPr name="Freeform 7" id="7" descr="preencoded.png"/>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sp>
        <p:nvSpPr>
          <p:cNvPr name="TextBox 8" id="8"/>
          <p:cNvSpPr txBox="true"/>
          <p:nvPr/>
        </p:nvSpPr>
        <p:spPr>
          <a:xfrm rot="0">
            <a:off x="899815" y="1017389"/>
            <a:ext cx="9474250" cy="741362"/>
          </a:xfrm>
          <a:prstGeom prst="rect">
            <a:avLst/>
          </a:prstGeom>
        </p:spPr>
        <p:txBody>
          <a:bodyPr anchor="t" rtlCol="false" tIns="0" lIns="0" bIns="0" rIns="0">
            <a:spAutoFit/>
          </a:bodyPr>
          <a:lstStyle/>
          <a:p>
            <a:pPr algn="l">
              <a:lnSpc>
                <a:spcPts val="5937"/>
              </a:lnSpc>
            </a:pPr>
            <a:r>
              <a:rPr lang="en-US" sz="4750">
                <a:solidFill>
                  <a:srgbClr val="38512F"/>
                </a:solidFill>
                <a:latin typeface="Lora"/>
                <a:ea typeface="Lora"/>
                <a:cs typeface="Lora"/>
                <a:sym typeface="Lora"/>
              </a:rPr>
              <a:t>Conclusion</a:t>
            </a:r>
          </a:p>
        </p:txBody>
      </p:sp>
      <p:sp>
        <p:nvSpPr>
          <p:cNvPr name="TextBox 9" id="9"/>
          <p:cNvSpPr txBox="true"/>
          <p:nvPr/>
        </p:nvSpPr>
        <p:spPr>
          <a:xfrm rot="0">
            <a:off x="865223" y="2360367"/>
            <a:ext cx="9508842" cy="3021210"/>
          </a:xfrm>
          <a:prstGeom prst="rect">
            <a:avLst/>
          </a:prstGeom>
        </p:spPr>
        <p:txBody>
          <a:bodyPr anchor="t" rtlCol="false" tIns="0" lIns="0" bIns="0" rIns="0">
            <a:spAutoFit/>
          </a:bodyPr>
          <a:lstStyle/>
          <a:p>
            <a:pPr algn="l">
              <a:lnSpc>
                <a:spcPts val="3819"/>
              </a:lnSpc>
            </a:pPr>
            <a:r>
              <a:rPr lang="en-US" sz="2355">
                <a:solidFill>
                  <a:srgbClr val="3A3630"/>
                </a:solidFill>
                <a:latin typeface="Source Sans Pro"/>
                <a:ea typeface="Source Sans Pro"/>
                <a:cs typeface="Source Sans Pro"/>
                <a:sym typeface="Source Sans Pro"/>
              </a:rPr>
              <a:t>This project successfully demonstrates the potential of microstrip patch antennas in addressing the growing demands of high-frequency communication technologies. The compact design and high performance at 18 GHz make this antenna a viable solution for Ku band applications. The research highlights the importance of careful engineering and advanced simulation techniques in antenna design.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DAGXyHWo0k4</dc:identifier>
  <dcterms:modified xsi:type="dcterms:W3CDTF">2011-08-01T06:04:30Z</dcterms:modified>
  <cp:revision>1</cp:revision>
  <dc:title>Microstrip-Patch-Antenna-Design-for-Ku-Band.pptx</dc:title>
</cp:coreProperties>
</file>